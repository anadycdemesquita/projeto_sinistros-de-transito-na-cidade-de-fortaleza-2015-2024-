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4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notesSlides/notesSlide17.xml" ContentType="application/vnd.openxmlformats-officedocument.presentationml.notesSlide+xml"/>
  <Override PartName="/ppt/charts/chart17.xml" ContentType="application/vnd.openxmlformats-officedocument.drawingml.chart+xml"/>
  <Override PartName="/ppt/notesSlides/notesSlide18.xml" ContentType="application/vnd.openxmlformats-officedocument.presentationml.notes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notesSlides/notesSlide19.xml" ContentType="application/vnd.openxmlformats-officedocument.presentationml.notesSlide+xml"/>
  <Override PartName="/ppt/charts/chart20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" id="{401315F3-D04F-5850-1479-455E42200C46}">
          <p14:sldIdLst>
            <p14:sldId id="256"/>
          </p14:sldIdLst>
        </p14:section>
        <p14:section name="Notebook 1 – Base de sinistros" id="{8D0B3322-E66F-11E9-BF71-38150073FE0E}">
          <p14:sldIdLst>
            <p14:sldId id="257"/>
            <p14:sldId id="258"/>
          </p14:sldIdLst>
        </p14:section>
        <p14:section name="Introdução" id="{1BD027B4-DC98-F5F5-720A-4FCE512287E2}">
          <p14:sldIdLst/>
        </p14:section>
        <p14:section name="Notebook eda – Passo a passo" id="{E6C4D771-5DFD-DE8A-37DE-2D958E452E0D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Notebook eda – Hipóteses" id="{4ADE8387-2E31-9117-F6E2-D5E919414DC6}">
          <p14:sldIdLst>
            <p14:sldId id="270"/>
            <p14:sldId id="271"/>
            <p14:sldId id="272"/>
            <p14:sldId id="273"/>
          </p14:sldIdLst>
        </p14:section>
        <p14:section name="Notebook 2 – Vias críticas" id="{1990762F-A8B5-5A73-EF66-AB9F22C7174B}">
          <p14:sldIdLst>
            <p14:sldId id="274"/>
            <p14:sldId id="275"/>
            <p14:sldId id="276"/>
            <p14:sldId id="277"/>
          </p14:sldIdLst>
        </p14:section>
        <p14:section name="Dashboard e fechamento" id="{27186BAA-8FEB-8B2C-1955-390688E18CC0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Gravidade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A33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6382-4DBF-917F-D92311C93752}"/>
              </c:ext>
            </c:extLst>
          </c:dPt>
          <c:dPt>
            <c:idx val="1"/>
            <c:bubble3D val="0"/>
            <c:spPr>
              <a:solidFill>
                <a:srgbClr val="2E9E6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6382-4DBF-917F-D92311C93752}"/>
              </c:ext>
            </c:extLst>
          </c:dPt>
          <c:dPt>
            <c:idx val="2"/>
            <c:bubble3D val="0"/>
            <c:spPr>
              <a:solidFill>
                <a:srgbClr val="A0AEC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6382-4DBF-917F-D92311C93752}"/>
              </c:ext>
            </c:extLst>
          </c:dPt>
          <c:dPt>
            <c:idx val="3"/>
            <c:bubble3D val="0"/>
            <c:spPr>
              <a:solidFill>
                <a:srgbClr val="D64545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6382-4DBF-917F-D92311C93752}"/>
              </c:ext>
            </c:extLst>
          </c:dPt>
          <c:cat>
            <c:strRef>
              <c:f>Sheet1!$A$2:$A$5</c:f>
              <c:strCache>
                <c:ptCount val="4"/>
                <c:pt idx="0">
                  <c:v>Ferido (72,3%)</c:v>
                </c:pt>
                <c:pt idx="1">
                  <c:v>Ileso (19,2%)</c:v>
                </c:pt>
                <c:pt idx="2">
                  <c:v>Não informado (7,1%)</c:v>
                </c:pt>
                <c:pt idx="3">
                  <c:v>Fatal (1,5%)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94597</c:v>
                </c:pt>
                <c:pt idx="1">
                  <c:v>25055</c:v>
                </c:pt>
                <c:pt idx="2">
                  <c:v>9242</c:v>
                </c:pt>
                <c:pt idx="3">
                  <c:v>1926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382-4DBF-917F-D92311C937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5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rgbClr val="2C3E6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D09-4DBB-BD21-3F39C708C22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D09-4DBB-BD21-3F39C708C22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D09-4DBB-BD21-3F39C708C22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D09-4DBB-BD21-3F39C708C22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D09-4DBB-BD21-3F39C708C22F}"/>
              </c:ext>
            </c:extLst>
          </c:dPt>
          <c:dPt>
            <c:idx val="5"/>
            <c:invertIfNegative val="0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D09-4DBB-BD21-3F39C708C22F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7D09-4DBB-BD21-3F39C708C22F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7D09-4DBB-BD21-3F39C708C22F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7D09-4DBB-BD21-3F39C708C22F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7D09-4DBB-BD21-3F39C708C22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02C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16831</c:v>
                </c:pt>
                <c:pt idx="1">
                  <c:v>18836</c:v>
                </c:pt>
                <c:pt idx="2">
                  <c:v>16679</c:v>
                </c:pt>
                <c:pt idx="3">
                  <c:v>11939</c:v>
                </c:pt>
                <c:pt idx="4">
                  <c:v>11848</c:v>
                </c:pt>
                <c:pt idx="5">
                  <c:v>9230</c:v>
                </c:pt>
                <c:pt idx="6">
                  <c:v>10673</c:v>
                </c:pt>
                <c:pt idx="7">
                  <c:v>10747</c:v>
                </c:pt>
                <c:pt idx="8">
                  <c:v>11295</c:v>
                </c:pt>
                <c:pt idx="9">
                  <c:v>12742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7D09-4DBB-BD21-3F39C708C2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rgbClr val="12284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832-4A69-B288-80BAB61993E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832-4A69-B288-80BAB61993E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832-4A69-B288-80BAB61993E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832-4A69-B288-80BAB61993E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2832-4A69-B288-80BAB61993E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2832-4A69-B288-80BAB61993E3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2832-4A69-B288-80BAB61993E3}"/>
              </c:ext>
            </c:extLst>
          </c:dPt>
          <c:dPt>
            <c:idx val="7"/>
            <c:invertIfNegative val="0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832-4A69-B288-80BAB61993E3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2832-4A69-B288-80BAB61993E3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2832-4A69-B288-80BAB61993E3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2832-4A69-B288-80BAB61993E3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2832-4A69-B288-80BAB61993E3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2832-4A69-B288-80BAB61993E3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2832-4A69-B288-80BAB61993E3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2832-4A69-B288-80BAB61993E3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2832-4A69-B288-80BAB61993E3}"/>
              </c:ext>
            </c:extLst>
          </c:dPt>
          <c:dPt>
            <c:idx val="16"/>
            <c:invertIfNegative val="0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2832-4A69-B288-80BAB61993E3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3-2832-4A69-B288-80BAB61993E3}"/>
              </c:ext>
            </c:extLst>
          </c:dPt>
          <c:dPt>
            <c:idx val="1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5-2832-4A69-B288-80BAB61993E3}"/>
              </c:ext>
            </c:extLst>
          </c:dPt>
          <c:dPt>
            <c:idx val="1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7-2832-4A69-B288-80BAB61993E3}"/>
              </c:ext>
            </c:extLst>
          </c:dPt>
          <c:dPt>
            <c:idx val="2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9-2832-4A69-B288-80BAB61993E3}"/>
              </c:ext>
            </c:extLst>
          </c:dPt>
          <c:dPt>
            <c:idx val="2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B-2832-4A69-B288-80BAB61993E3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D-2832-4A69-B288-80BAB61993E3}"/>
              </c:ext>
            </c:extLst>
          </c:dPt>
          <c:dPt>
            <c:idx val="2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F-2832-4A69-B288-80BAB61993E3}"/>
              </c:ext>
            </c:extLst>
          </c:dPt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1663</c:v>
                </c:pt>
                <c:pt idx="1">
                  <c:v>1461</c:v>
                </c:pt>
                <c:pt idx="2">
                  <c:v>1476</c:v>
                </c:pt>
                <c:pt idx="3">
                  <c:v>2867</c:v>
                </c:pt>
                <c:pt idx="4">
                  <c:v>5142</c:v>
                </c:pt>
                <c:pt idx="5">
                  <c:v>5976</c:v>
                </c:pt>
                <c:pt idx="6">
                  <c:v>6632</c:v>
                </c:pt>
                <c:pt idx="7">
                  <c:v>8066</c:v>
                </c:pt>
                <c:pt idx="8">
                  <c:v>7258</c:v>
                </c:pt>
                <c:pt idx="9">
                  <c:v>6313</c:v>
                </c:pt>
                <c:pt idx="10">
                  <c:v>6650</c:v>
                </c:pt>
                <c:pt idx="11">
                  <c:v>6943</c:v>
                </c:pt>
                <c:pt idx="12">
                  <c:v>7132</c:v>
                </c:pt>
                <c:pt idx="13">
                  <c:v>7438</c:v>
                </c:pt>
                <c:pt idx="14">
                  <c:v>7223</c:v>
                </c:pt>
                <c:pt idx="15">
                  <c:v>7873</c:v>
                </c:pt>
                <c:pt idx="16">
                  <c:v>8172</c:v>
                </c:pt>
                <c:pt idx="17">
                  <c:v>7563</c:v>
                </c:pt>
                <c:pt idx="18">
                  <c:v>6813</c:v>
                </c:pt>
                <c:pt idx="19">
                  <c:v>5488</c:v>
                </c:pt>
                <c:pt idx="20">
                  <c:v>4002</c:v>
                </c:pt>
                <c:pt idx="21">
                  <c:v>3499</c:v>
                </c:pt>
                <c:pt idx="22">
                  <c:v>3018</c:v>
                </c:pt>
                <c:pt idx="23">
                  <c:v>2152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2832-4A69-B288-80BAB61993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rgbClr val="12284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25C-45EB-BCC0-E6CE54FA27A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25C-45EB-BCC0-E6CE54FA27A5}"/>
              </c:ext>
            </c:extLst>
          </c:dPt>
          <c:dPt>
            <c:idx val="2"/>
            <c:invertIfNegative val="0"/>
            <c:bubble3D val="0"/>
            <c:spPr>
              <a:solidFill>
                <a:srgbClr val="2C3E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25C-45EB-BCC0-E6CE54FA27A5}"/>
              </c:ext>
            </c:extLst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25C-45EB-BCC0-E6CE54FA27A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02C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Tarde 12-18h</c:v>
                </c:pt>
                <c:pt idx="1">
                  <c:v>Manhã 6-12h</c:v>
                </c:pt>
                <c:pt idx="2">
                  <c:v>Noite 18-24h</c:v>
                </c:pt>
                <c:pt idx="3">
                  <c:v>Madrug. 0-6h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45401</c:v>
                </c:pt>
                <c:pt idx="1">
                  <c:v>41862</c:v>
                </c:pt>
                <c:pt idx="2">
                  <c:v>24972</c:v>
                </c:pt>
                <c:pt idx="3">
                  <c:v>18585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25C-45EB-BCC0-E6CE54FA27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284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7554-4347-A3FE-44FF3430328C}"/>
              </c:ext>
            </c:extLst>
          </c:dPt>
          <c:dPt>
            <c:idx val="1"/>
            <c:bubble3D val="0"/>
            <c:spPr>
              <a:solidFill>
                <a:srgbClr val="F2A33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7554-4347-A3FE-44FF3430328C}"/>
              </c:ext>
            </c:extLst>
          </c:dPt>
          <c:cat>
            <c:strRef>
              <c:f>Sheet1!$A$2:$A$3</c:f>
              <c:strCache>
                <c:ptCount val="2"/>
                <c:pt idx="0">
                  <c:v>Dias úteis (72,7%)</c:v>
                </c:pt>
                <c:pt idx="1">
                  <c:v>Fim de semana (27,3%)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95048</c:v>
                </c:pt>
                <c:pt idx="1">
                  <c:v>35772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54-4347-A3FE-44FF343032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5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rgbClr val="1228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02C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Centro</c:v>
                </c:pt>
                <c:pt idx="1">
                  <c:v>Aldeota</c:v>
                </c:pt>
                <c:pt idx="2">
                  <c:v>Meireles</c:v>
                </c:pt>
                <c:pt idx="3">
                  <c:v>Parangaba</c:v>
                </c:pt>
                <c:pt idx="4">
                  <c:v>Fátima</c:v>
                </c:pt>
                <c:pt idx="5">
                  <c:v>Messejana</c:v>
                </c:pt>
                <c:pt idx="6">
                  <c:v>Mondubim</c:v>
                </c:pt>
                <c:pt idx="7">
                  <c:v>Montese</c:v>
                </c:pt>
                <c:pt idx="8">
                  <c:v>Passaré</c:v>
                </c:pt>
                <c:pt idx="9">
                  <c:v>Barra do Ceará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7464</c:v>
                </c:pt>
                <c:pt idx="1">
                  <c:v>5284</c:v>
                </c:pt>
                <c:pt idx="2">
                  <c:v>4098</c:v>
                </c:pt>
                <c:pt idx="3">
                  <c:v>3524</c:v>
                </c:pt>
                <c:pt idx="4">
                  <c:v>3378</c:v>
                </c:pt>
                <c:pt idx="5">
                  <c:v>3271</c:v>
                </c:pt>
                <c:pt idx="6">
                  <c:v>2724</c:v>
                </c:pt>
                <c:pt idx="7">
                  <c:v>2555</c:v>
                </c:pt>
                <c:pt idx="8">
                  <c:v>2071</c:v>
                </c:pt>
                <c:pt idx="9">
                  <c:v>2042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31-45E6-ADCC-E68B442204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02C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Centro</c:v>
                </c:pt>
                <c:pt idx="1">
                  <c:v>Cajazeiras</c:v>
                </c:pt>
                <c:pt idx="2">
                  <c:v>Messejana</c:v>
                </c:pt>
                <c:pt idx="3">
                  <c:v>Mondubim</c:v>
                </c:pt>
                <c:pt idx="4">
                  <c:v>Prefeito José Walter</c:v>
                </c:pt>
                <c:pt idx="5">
                  <c:v>Barra do Ceará</c:v>
                </c:pt>
                <c:pt idx="6">
                  <c:v>Antônio Bezerra</c:v>
                </c:pt>
                <c:pt idx="7">
                  <c:v>Jangurussu</c:v>
                </c:pt>
                <c:pt idx="8">
                  <c:v>Parangaba</c:v>
                </c:pt>
                <c:pt idx="9">
                  <c:v>Bonsucesso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73</c:v>
                </c:pt>
                <c:pt idx="1">
                  <c:v>61</c:v>
                </c:pt>
                <c:pt idx="2">
                  <c:v>53</c:v>
                </c:pt>
                <c:pt idx="3">
                  <c:v>50</c:v>
                </c:pt>
                <c:pt idx="4">
                  <c:v>50</c:v>
                </c:pt>
                <c:pt idx="5">
                  <c:v>46</c:v>
                </c:pt>
                <c:pt idx="6">
                  <c:v>45</c:v>
                </c:pt>
                <c:pt idx="7">
                  <c:v>44</c:v>
                </c:pt>
                <c:pt idx="8">
                  <c:v>40</c:v>
                </c:pt>
                <c:pt idx="9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0E-4396-B77A-69E01FFDE7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rgbClr val="12284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88F-45EF-8E84-A94685277E26}"/>
              </c:ext>
            </c:extLst>
          </c:dPt>
          <c:dPt>
            <c:idx val="1"/>
            <c:invertIfNegative val="0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8F-45EF-8E84-A94685277E26}"/>
              </c:ext>
            </c:extLst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88F-45EF-8E84-A94685277E26}"/>
              </c:ext>
            </c:extLst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88F-45EF-8E84-A94685277E26}"/>
              </c:ext>
            </c:extLst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88F-45EF-8E84-A94685277E26}"/>
              </c:ext>
            </c:extLst>
          </c:dPt>
          <c:dPt>
            <c:idx val="5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88F-45EF-8E84-A94685277E26}"/>
              </c:ext>
            </c:extLst>
          </c:dPt>
          <c:dPt>
            <c:idx val="6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88F-45EF-8E84-A94685277E26}"/>
              </c:ext>
            </c:extLst>
          </c:dPt>
          <c:dPt>
            <c:idx val="7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88F-45EF-8E84-A94685277E26}"/>
              </c:ext>
            </c:extLst>
          </c:dPt>
          <c:dPt>
            <c:idx val="8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788F-45EF-8E84-A94685277E2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02C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Automóvel</c:v>
                </c:pt>
                <c:pt idx="1">
                  <c:v>Motocicleta</c:v>
                </c:pt>
                <c:pt idx="2">
                  <c:v>Ônibus</c:v>
                </c:pt>
                <c:pt idx="3">
                  <c:v>Bicicleta</c:v>
                </c:pt>
                <c:pt idx="4">
                  <c:v>Caminhão</c:v>
                </c:pt>
                <c:pt idx="5">
                  <c:v>Micro-ônibus</c:v>
                </c:pt>
                <c:pt idx="6">
                  <c:v>Ciclomotor</c:v>
                </c:pt>
                <c:pt idx="7">
                  <c:v>Trem</c:v>
                </c:pt>
                <c:pt idx="8">
                  <c:v>Tração animal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109636</c:v>
                </c:pt>
                <c:pt idx="1">
                  <c:v>84798</c:v>
                </c:pt>
                <c:pt idx="2">
                  <c:v>6387</c:v>
                </c:pt>
                <c:pt idx="3">
                  <c:v>5694</c:v>
                </c:pt>
                <c:pt idx="4">
                  <c:v>3888</c:v>
                </c:pt>
                <c:pt idx="5">
                  <c:v>753</c:v>
                </c:pt>
                <c:pt idx="6">
                  <c:v>578</c:v>
                </c:pt>
                <c:pt idx="7">
                  <c:v>55</c:v>
                </c:pt>
                <c:pt idx="8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788F-45EF-8E84-A94685277E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9E-4B48-9DA5-256E3BF39A2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29E-4B48-9DA5-256E3BF39A2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29E-4B48-9DA5-256E3BF39A2D}"/>
              </c:ext>
            </c:extLst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29E-4B48-9DA5-256E3BF39A2D}"/>
              </c:ext>
            </c:extLst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29E-4B48-9DA5-256E3BF39A2D}"/>
              </c:ext>
            </c:extLst>
          </c:dPt>
          <c:dPt>
            <c:idx val="5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29E-4B48-9DA5-256E3BF39A2D}"/>
              </c:ext>
            </c:extLst>
          </c:dPt>
          <c:dPt>
            <c:idx val="6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29E-4B48-9DA5-256E3BF39A2D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02C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Ciclomotor</c:v>
                </c:pt>
                <c:pt idx="1">
                  <c:v>Caminhão</c:v>
                </c:pt>
                <c:pt idx="2">
                  <c:v>Ônibus</c:v>
                </c:pt>
                <c:pt idx="3">
                  <c:v>Bicicleta</c:v>
                </c:pt>
                <c:pt idx="4">
                  <c:v>Micro-ônibus</c:v>
                </c:pt>
                <c:pt idx="5">
                  <c:v>Motocicleta</c:v>
                </c:pt>
                <c:pt idx="6">
                  <c:v>Automóvel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5.2083333333333339</c:v>
                </c:pt>
                <c:pt idx="1">
                  <c:v>3.890641430073607</c:v>
                </c:pt>
                <c:pt idx="2">
                  <c:v>3.6406995230524646</c:v>
                </c:pt>
                <c:pt idx="3">
                  <c:v>2.9380717804363123</c:v>
                </c:pt>
                <c:pt idx="4">
                  <c:v>2</c:v>
                </c:pt>
                <c:pt idx="5">
                  <c:v>1.6476233397842051</c:v>
                </c:pt>
                <c:pt idx="6">
                  <c:v>1.0351768427106298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29E-4B48-9DA5-256E3BF39A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9BD-4609-BB27-EA64F6BDA9A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9BD-4609-BB27-EA64F6BDA9A3}"/>
              </c:ext>
            </c:extLst>
          </c:dPt>
          <c:dPt>
            <c:idx val="2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9BD-4609-BB27-EA64F6BDA9A3}"/>
              </c:ext>
            </c:extLst>
          </c:dPt>
          <c:dPt>
            <c:idx val="3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9BD-4609-BB27-EA64F6BDA9A3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02C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Madrugada</c:v>
                </c:pt>
                <c:pt idx="1">
                  <c:v>Noite</c:v>
                </c:pt>
                <c:pt idx="2">
                  <c:v>Tarde</c:v>
                </c:pt>
                <c:pt idx="3">
                  <c:v>Manhã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2.2222222222222223</c:v>
                </c:pt>
                <c:pt idx="1">
                  <c:v>2.126381547333013</c:v>
                </c:pt>
                <c:pt idx="2">
                  <c:v>1.321556793903218</c:v>
                </c:pt>
                <c:pt idx="3">
                  <c:v>1.0558501743824948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9BD-4609-BB27-EA64F6BDA9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Fatal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Cancela</c:v>
                </c:pt>
                <c:pt idx="1">
                  <c:v>Dê Preferência</c:v>
                </c:pt>
                <c:pt idx="2">
                  <c:v>Faixa de Pedestre</c:v>
                </c:pt>
                <c:pt idx="3">
                  <c:v>Gesto</c:v>
                </c:pt>
                <c:pt idx="4">
                  <c:v>Não Há Controle</c:v>
                </c:pt>
                <c:pt idx="5">
                  <c:v>Não Informado</c:v>
                </c:pt>
                <c:pt idx="6">
                  <c:v>Pare</c:v>
                </c:pt>
                <c:pt idx="7">
                  <c:v>Semáforo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1.21</c:v>
                </c:pt>
                <c:pt idx="2">
                  <c:v>0</c:v>
                </c:pt>
                <c:pt idx="3">
                  <c:v>1.84</c:v>
                </c:pt>
                <c:pt idx="4">
                  <c:v>1.82</c:v>
                </c:pt>
                <c:pt idx="5">
                  <c:v>1.59</c:v>
                </c:pt>
                <c:pt idx="6">
                  <c:v>1.04</c:v>
                </c:pt>
                <c:pt idx="7">
                  <c:v>1.1599999999999999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D8-4B23-B733-F420815327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Ferido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Cancela</c:v>
                </c:pt>
                <c:pt idx="1">
                  <c:v>Dê Preferência</c:v>
                </c:pt>
                <c:pt idx="2">
                  <c:v>Faixa de Pedestre</c:v>
                </c:pt>
                <c:pt idx="3">
                  <c:v>Gesto</c:v>
                </c:pt>
                <c:pt idx="4">
                  <c:v>Não Há Controle</c:v>
                </c:pt>
                <c:pt idx="5">
                  <c:v>Não Informado</c:v>
                </c:pt>
                <c:pt idx="6">
                  <c:v>Pare</c:v>
                </c:pt>
                <c:pt idx="7">
                  <c:v>Semáforo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42.86</c:v>
                </c:pt>
                <c:pt idx="1">
                  <c:v>44.35</c:v>
                </c:pt>
                <c:pt idx="2">
                  <c:v>42.86</c:v>
                </c:pt>
                <c:pt idx="3">
                  <c:v>49.08</c:v>
                </c:pt>
                <c:pt idx="4">
                  <c:v>44.79</c:v>
                </c:pt>
                <c:pt idx="5">
                  <c:v>86.58</c:v>
                </c:pt>
                <c:pt idx="6">
                  <c:v>54.55</c:v>
                </c:pt>
                <c:pt idx="7">
                  <c:v>48.71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D8-4B23-B733-F420815327D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Ileso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Cancela</c:v>
                </c:pt>
                <c:pt idx="1">
                  <c:v>Dê Preferência</c:v>
                </c:pt>
                <c:pt idx="2">
                  <c:v>Faixa de Pedestre</c:v>
                </c:pt>
                <c:pt idx="3">
                  <c:v>Gesto</c:v>
                </c:pt>
                <c:pt idx="4">
                  <c:v>Não Há Controle</c:v>
                </c:pt>
                <c:pt idx="5">
                  <c:v>Não Informado</c:v>
                </c:pt>
                <c:pt idx="6">
                  <c:v>Pare</c:v>
                </c:pt>
                <c:pt idx="7">
                  <c:v>Semáforo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38.96</c:v>
                </c:pt>
                <c:pt idx="1">
                  <c:v>35.69</c:v>
                </c:pt>
                <c:pt idx="2">
                  <c:v>57.14</c:v>
                </c:pt>
                <c:pt idx="3">
                  <c:v>41.54</c:v>
                </c:pt>
                <c:pt idx="4">
                  <c:v>40.39</c:v>
                </c:pt>
                <c:pt idx="5">
                  <c:v>7.51</c:v>
                </c:pt>
                <c:pt idx="6">
                  <c:v>34.01</c:v>
                </c:pt>
                <c:pt idx="7">
                  <c:v>39.01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6D8-4B23-B733-F420815327D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Não informado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Cancela</c:v>
                </c:pt>
                <c:pt idx="1">
                  <c:v>Dê Preferência</c:v>
                </c:pt>
                <c:pt idx="2">
                  <c:v>Faixa de Pedestre</c:v>
                </c:pt>
                <c:pt idx="3">
                  <c:v>Gesto</c:v>
                </c:pt>
                <c:pt idx="4">
                  <c:v>Não Há Controle</c:v>
                </c:pt>
                <c:pt idx="5">
                  <c:v>Não Informado</c:v>
                </c:pt>
                <c:pt idx="6">
                  <c:v>Pare</c:v>
                </c:pt>
                <c:pt idx="7">
                  <c:v>Semáforo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18.18</c:v>
                </c:pt>
                <c:pt idx="1">
                  <c:v>18.75</c:v>
                </c:pt>
                <c:pt idx="2">
                  <c:v>0</c:v>
                </c:pt>
                <c:pt idx="3">
                  <c:v>7.54</c:v>
                </c:pt>
                <c:pt idx="4">
                  <c:v>13</c:v>
                </c:pt>
                <c:pt idx="5">
                  <c:v>4.3099999999999996</c:v>
                </c:pt>
                <c:pt idx="6">
                  <c:v>10.39</c:v>
                </c:pt>
                <c:pt idx="7">
                  <c:v>11.12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6D8-4B23-B733-F420815327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5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Fatal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Com Via Férrea</c:v>
                </c:pt>
                <c:pt idx="1">
                  <c:v>Cruzamento</c:v>
                </c:pt>
                <c:pt idx="2">
                  <c:v>Duplo T</c:v>
                </c:pt>
                <c:pt idx="3">
                  <c:v>Meio de Quadra</c:v>
                </c:pt>
                <c:pt idx="4">
                  <c:v>Não Informado</c:v>
                </c:pt>
                <c:pt idx="5">
                  <c:v>Rotatória</c:v>
                </c:pt>
                <c:pt idx="6">
                  <c:v>T</c:v>
                </c:pt>
                <c:pt idx="7">
                  <c:v>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1.27</c:v>
                </c:pt>
                <c:pt idx="1">
                  <c:v>0.93</c:v>
                </c:pt>
                <c:pt idx="2">
                  <c:v>1.69</c:v>
                </c:pt>
                <c:pt idx="3">
                  <c:v>1.46</c:v>
                </c:pt>
                <c:pt idx="4">
                  <c:v>2.67</c:v>
                </c:pt>
                <c:pt idx="5">
                  <c:v>0.57999999999999996</c:v>
                </c:pt>
                <c:pt idx="6">
                  <c:v>1.39</c:v>
                </c:pt>
                <c:pt idx="7">
                  <c:v>0.95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B6-4027-8ED1-5CB970402F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Ferido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Com Via Férrea</c:v>
                </c:pt>
                <c:pt idx="1">
                  <c:v>Cruzamento</c:v>
                </c:pt>
                <c:pt idx="2">
                  <c:v>Duplo T</c:v>
                </c:pt>
                <c:pt idx="3">
                  <c:v>Meio de Quadra</c:v>
                </c:pt>
                <c:pt idx="4">
                  <c:v>Não Informado</c:v>
                </c:pt>
                <c:pt idx="5">
                  <c:v>Rotatória</c:v>
                </c:pt>
                <c:pt idx="6">
                  <c:v>T</c:v>
                </c:pt>
                <c:pt idx="7">
                  <c:v>Y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44.3</c:v>
                </c:pt>
                <c:pt idx="1">
                  <c:v>60.92</c:v>
                </c:pt>
                <c:pt idx="2">
                  <c:v>53.57</c:v>
                </c:pt>
                <c:pt idx="3">
                  <c:v>78.19</c:v>
                </c:pt>
                <c:pt idx="4">
                  <c:v>79.61</c:v>
                </c:pt>
                <c:pt idx="5">
                  <c:v>37.6</c:v>
                </c:pt>
                <c:pt idx="6">
                  <c:v>49.98</c:v>
                </c:pt>
                <c:pt idx="7">
                  <c:v>54.92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B6-4027-8ED1-5CB970402F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Ileso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Com Via Férrea</c:v>
                </c:pt>
                <c:pt idx="1">
                  <c:v>Cruzamento</c:v>
                </c:pt>
                <c:pt idx="2">
                  <c:v>Duplo T</c:v>
                </c:pt>
                <c:pt idx="3">
                  <c:v>Meio de Quadra</c:v>
                </c:pt>
                <c:pt idx="4">
                  <c:v>Não Informado</c:v>
                </c:pt>
                <c:pt idx="5">
                  <c:v>Rotatória</c:v>
                </c:pt>
                <c:pt idx="6">
                  <c:v>T</c:v>
                </c:pt>
                <c:pt idx="7">
                  <c:v>Y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41.77</c:v>
                </c:pt>
                <c:pt idx="1">
                  <c:v>29.06</c:v>
                </c:pt>
                <c:pt idx="2">
                  <c:v>34.4</c:v>
                </c:pt>
                <c:pt idx="3">
                  <c:v>14.53</c:v>
                </c:pt>
                <c:pt idx="4">
                  <c:v>11.16</c:v>
                </c:pt>
                <c:pt idx="5">
                  <c:v>48.45</c:v>
                </c:pt>
                <c:pt idx="6">
                  <c:v>37.799999999999997</c:v>
                </c:pt>
                <c:pt idx="7">
                  <c:v>30.48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CB6-4027-8ED1-5CB970402FA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Não informado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Com Via Férrea</c:v>
                </c:pt>
                <c:pt idx="1">
                  <c:v>Cruzamento</c:v>
                </c:pt>
                <c:pt idx="2">
                  <c:v>Duplo T</c:v>
                </c:pt>
                <c:pt idx="3">
                  <c:v>Meio de Quadra</c:v>
                </c:pt>
                <c:pt idx="4">
                  <c:v>Não Informado</c:v>
                </c:pt>
                <c:pt idx="5">
                  <c:v>Rotatória</c:v>
                </c:pt>
                <c:pt idx="6">
                  <c:v>T</c:v>
                </c:pt>
                <c:pt idx="7">
                  <c:v>Y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12.66</c:v>
                </c:pt>
                <c:pt idx="1">
                  <c:v>9.09</c:v>
                </c:pt>
                <c:pt idx="2">
                  <c:v>10.34</c:v>
                </c:pt>
                <c:pt idx="3">
                  <c:v>5.83</c:v>
                </c:pt>
                <c:pt idx="4">
                  <c:v>6.56</c:v>
                </c:pt>
                <c:pt idx="5">
                  <c:v>13.37</c:v>
                </c:pt>
                <c:pt idx="6">
                  <c:v>10.83</c:v>
                </c:pt>
                <c:pt idx="7">
                  <c:v>13.65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CB6-4027-8ED1-5CB970402F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5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FB1-437C-99D9-09B274491CD6}"/>
              </c:ext>
            </c:extLst>
          </c:dPt>
          <c:dPt>
            <c:idx val="1"/>
            <c:invertIfNegative val="0"/>
            <c:bubble3D val="0"/>
            <c:spPr>
              <a:solidFill>
                <a:srgbClr val="F2A3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FB1-437C-99D9-09B274491CD6}"/>
              </c:ext>
            </c:extLst>
          </c:dPt>
          <c:dPt>
            <c:idx val="2"/>
            <c:invertIfNegative val="0"/>
            <c:bubble3D val="0"/>
            <c:spPr>
              <a:solidFill>
                <a:srgbClr val="2E9E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FB1-437C-99D9-09B274491CD6}"/>
              </c:ext>
            </c:extLst>
          </c:dPt>
          <c:dPt>
            <c:idx val="3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FB1-437C-99D9-09B274491CD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02C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Fatal</c:v>
                </c:pt>
                <c:pt idx="1">
                  <c:v>Ferido</c:v>
                </c:pt>
                <c:pt idx="2">
                  <c:v>Ileso</c:v>
                </c:pt>
                <c:pt idx="3">
                  <c:v>Não inf.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0.43873312564901351</c:v>
                </c:pt>
                <c:pt idx="1">
                  <c:v>1.2750932904848991</c:v>
                </c:pt>
                <c:pt idx="2">
                  <c:v>0.14915186589503093</c:v>
                </c:pt>
                <c:pt idx="3">
                  <c:v>1.5950010820168794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FB1-437C-99D9-09B274491C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C3E-4779-A07A-18E7DAAEB885}"/>
              </c:ext>
            </c:extLst>
          </c:dPt>
          <c:dPt>
            <c:idx val="1"/>
            <c:invertIfNegative val="0"/>
            <c:bubble3D val="0"/>
            <c:spPr>
              <a:solidFill>
                <a:srgbClr val="F2A3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C3E-4779-A07A-18E7DAAEB885}"/>
              </c:ext>
            </c:extLst>
          </c:dPt>
          <c:dPt>
            <c:idx val="2"/>
            <c:invertIfNegative val="0"/>
            <c:bubble3D val="0"/>
            <c:spPr>
              <a:solidFill>
                <a:srgbClr val="2E9E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C3E-4779-A07A-18E7DAAEB885}"/>
              </c:ext>
            </c:extLst>
          </c:dPt>
          <c:dPt>
            <c:idx val="3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C3E-4779-A07A-18E7DAAEB885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02C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Fatal</c:v>
                </c:pt>
                <c:pt idx="1">
                  <c:v>Ferido</c:v>
                </c:pt>
                <c:pt idx="2">
                  <c:v>Ileso</c:v>
                </c:pt>
                <c:pt idx="3">
                  <c:v>Não inf.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1.4537902388369679</c:v>
                </c:pt>
                <c:pt idx="1">
                  <c:v>1.5952514350349376</c:v>
                </c:pt>
                <c:pt idx="2">
                  <c:v>1.7930552783875473</c:v>
                </c:pt>
                <c:pt idx="3">
                  <c:v>1.4251244319411382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C3E-4779-A07A-18E7DAAEB8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rgbClr val="12284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39F-412E-8A96-6BB6DC9E3923}"/>
              </c:ext>
            </c:extLst>
          </c:dPt>
          <c:dPt>
            <c:idx val="1"/>
            <c:invertIfNegative val="0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9F-412E-8A96-6BB6DC9E3923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02C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Demais horários e dias úteis</c:v>
                </c:pt>
                <c:pt idx="1">
                  <c:v>Madrugada e/ou fim de semana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1.2044223165910088</c:v>
                </c:pt>
                <c:pt idx="1">
                  <c:v>1.9213455557374366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39F-412E-8A96-6BB6DC9E39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FCB-428E-B597-2EDFFA710B6C}"/>
              </c:ext>
            </c:extLst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FCB-428E-B597-2EDFFA710B6C}"/>
              </c:ext>
            </c:extLst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FCB-428E-B597-2EDFFA710B6C}"/>
              </c:ext>
            </c:extLst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FCB-428E-B597-2EDFFA710B6C}"/>
              </c:ext>
            </c:extLst>
          </c:dPt>
          <c:dPt>
            <c:idx val="4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FCB-428E-B597-2EDFFA710B6C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02C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Só Moto</c:v>
                </c:pt>
                <c:pt idx="1">
                  <c:v>Misto/Outros</c:v>
                </c:pt>
                <c:pt idx="2">
                  <c:v>Só Bike</c:v>
                </c:pt>
                <c:pt idx="3">
                  <c:v>Só Pesado</c:v>
                </c:pt>
                <c:pt idx="4">
                  <c:v>Só Auto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1.2434345988512805</c:v>
                </c:pt>
                <c:pt idx="1">
                  <c:v>1.1378434643948678</c:v>
                </c:pt>
                <c:pt idx="2">
                  <c:v>1.0306627101879327</c:v>
                </c:pt>
                <c:pt idx="3">
                  <c:v>0.85111989459815551</c:v>
                </c:pt>
                <c:pt idx="4">
                  <c:v>0.7790128658003046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FCB-428E-B597-2EDFFA710B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Observado</c:v>
                </c:pt>
              </c:strCache>
            </c:strRef>
          </c:tx>
          <c:spPr>
            <a:ln w="25400" cap="flat">
              <a:solidFill>
                <a:srgbClr val="12284C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Sheet1!$A$2:$A$121</c:f>
              <c:strCache>
                <c:ptCount val="120"/>
                <c:pt idx="0">
                  <c:v>jan/15</c:v>
                </c:pt>
                <c:pt idx="1">
                  <c:v>  </c:v>
                </c:pt>
                <c:pt idx="2">
                  <c:v>   </c:v>
                </c:pt>
                <c:pt idx="3">
                  <c:v>    </c:v>
                </c:pt>
                <c:pt idx="4">
                  <c:v>     </c:v>
                </c:pt>
                <c:pt idx="5">
                  <c:v>      </c:v>
                </c:pt>
                <c:pt idx="6">
                  <c:v>       </c:v>
                </c:pt>
                <c:pt idx="7">
                  <c:v>        </c:v>
                </c:pt>
                <c:pt idx="8">
                  <c:v>         </c:v>
                </c:pt>
                <c:pt idx="9">
                  <c:v>          </c:v>
                </c:pt>
                <c:pt idx="10">
                  <c:v>           </c:v>
                </c:pt>
                <c:pt idx="11">
                  <c:v>            </c:v>
                </c:pt>
                <c:pt idx="12">
                  <c:v>jan/16</c:v>
                </c:pt>
                <c:pt idx="13">
                  <c:v>  </c:v>
                </c:pt>
                <c:pt idx="14">
                  <c:v>   </c:v>
                </c:pt>
                <c:pt idx="15">
                  <c:v>    </c:v>
                </c:pt>
                <c:pt idx="16">
                  <c:v>     </c:v>
                </c:pt>
                <c:pt idx="17">
                  <c:v>      </c:v>
                </c:pt>
                <c:pt idx="18">
                  <c:v>       </c:v>
                </c:pt>
                <c:pt idx="19">
                  <c:v>        </c:v>
                </c:pt>
                <c:pt idx="20">
                  <c:v>         </c:v>
                </c:pt>
                <c:pt idx="21">
                  <c:v>          </c:v>
                </c:pt>
                <c:pt idx="22">
                  <c:v>           </c:v>
                </c:pt>
                <c:pt idx="23">
                  <c:v>            </c:v>
                </c:pt>
                <c:pt idx="24">
                  <c:v>jan/17</c:v>
                </c:pt>
                <c:pt idx="25">
                  <c:v>  </c:v>
                </c:pt>
                <c:pt idx="26">
                  <c:v>   </c:v>
                </c:pt>
                <c:pt idx="27">
                  <c:v>    </c:v>
                </c:pt>
                <c:pt idx="28">
                  <c:v>     </c:v>
                </c:pt>
                <c:pt idx="29">
                  <c:v>      </c:v>
                </c:pt>
                <c:pt idx="30">
                  <c:v>       </c:v>
                </c:pt>
                <c:pt idx="31">
                  <c:v>        </c:v>
                </c:pt>
                <c:pt idx="32">
                  <c:v>         </c:v>
                </c:pt>
                <c:pt idx="33">
                  <c:v>          </c:v>
                </c:pt>
                <c:pt idx="34">
                  <c:v>           </c:v>
                </c:pt>
                <c:pt idx="35">
                  <c:v>            </c:v>
                </c:pt>
                <c:pt idx="36">
                  <c:v>jan/18</c:v>
                </c:pt>
                <c:pt idx="37">
                  <c:v>  </c:v>
                </c:pt>
                <c:pt idx="38">
                  <c:v>   </c:v>
                </c:pt>
                <c:pt idx="39">
                  <c:v>    </c:v>
                </c:pt>
                <c:pt idx="40">
                  <c:v>     </c:v>
                </c:pt>
                <c:pt idx="41">
                  <c:v>      </c:v>
                </c:pt>
                <c:pt idx="42">
                  <c:v>       </c:v>
                </c:pt>
                <c:pt idx="43">
                  <c:v>        </c:v>
                </c:pt>
                <c:pt idx="44">
                  <c:v>         </c:v>
                </c:pt>
                <c:pt idx="45">
                  <c:v>          </c:v>
                </c:pt>
                <c:pt idx="46">
                  <c:v>           </c:v>
                </c:pt>
                <c:pt idx="47">
                  <c:v>            </c:v>
                </c:pt>
                <c:pt idx="48">
                  <c:v>jan/19</c:v>
                </c:pt>
                <c:pt idx="49">
                  <c:v>  </c:v>
                </c:pt>
                <c:pt idx="50">
                  <c:v>   </c:v>
                </c:pt>
                <c:pt idx="51">
                  <c:v>    </c:v>
                </c:pt>
                <c:pt idx="52">
                  <c:v>     </c:v>
                </c:pt>
                <c:pt idx="53">
                  <c:v>      </c:v>
                </c:pt>
                <c:pt idx="54">
                  <c:v>       </c:v>
                </c:pt>
                <c:pt idx="55">
                  <c:v>        </c:v>
                </c:pt>
                <c:pt idx="56">
                  <c:v>         </c:v>
                </c:pt>
                <c:pt idx="57">
                  <c:v>          </c:v>
                </c:pt>
                <c:pt idx="58">
                  <c:v>           </c:v>
                </c:pt>
                <c:pt idx="59">
                  <c:v>            </c:v>
                </c:pt>
                <c:pt idx="60">
                  <c:v>jan/20</c:v>
                </c:pt>
                <c:pt idx="61">
                  <c:v>  </c:v>
                </c:pt>
                <c:pt idx="62">
                  <c:v>   </c:v>
                </c:pt>
                <c:pt idx="63">
                  <c:v>    </c:v>
                </c:pt>
                <c:pt idx="64">
                  <c:v>     </c:v>
                </c:pt>
                <c:pt idx="65">
                  <c:v>      </c:v>
                </c:pt>
                <c:pt idx="66">
                  <c:v>       </c:v>
                </c:pt>
                <c:pt idx="67">
                  <c:v>        </c:v>
                </c:pt>
                <c:pt idx="68">
                  <c:v>         </c:v>
                </c:pt>
                <c:pt idx="69">
                  <c:v>          </c:v>
                </c:pt>
                <c:pt idx="70">
                  <c:v>           </c:v>
                </c:pt>
                <c:pt idx="71">
                  <c:v>            </c:v>
                </c:pt>
                <c:pt idx="72">
                  <c:v>jan/21</c:v>
                </c:pt>
                <c:pt idx="73">
                  <c:v>  </c:v>
                </c:pt>
                <c:pt idx="74">
                  <c:v>   </c:v>
                </c:pt>
                <c:pt idx="75">
                  <c:v>    </c:v>
                </c:pt>
                <c:pt idx="76">
                  <c:v>     </c:v>
                </c:pt>
                <c:pt idx="77">
                  <c:v>      </c:v>
                </c:pt>
                <c:pt idx="78">
                  <c:v>       </c:v>
                </c:pt>
                <c:pt idx="79">
                  <c:v>        </c:v>
                </c:pt>
                <c:pt idx="80">
                  <c:v>         </c:v>
                </c:pt>
                <c:pt idx="81">
                  <c:v>          </c:v>
                </c:pt>
                <c:pt idx="82">
                  <c:v>           </c:v>
                </c:pt>
                <c:pt idx="83">
                  <c:v>            </c:v>
                </c:pt>
                <c:pt idx="84">
                  <c:v>jan/22</c:v>
                </c:pt>
                <c:pt idx="85">
                  <c:v>  </c:v>
                </c:pt>
                <c:pt idx="86">
                  <c:v>   </c:v>
                </c:pt>
                <c:pt idx="87">
                  <c:v>    </c:v>
                </c:pt>
                <c:pt idx="88">
                  <c:v>     </c:v>
                </c:pt>
                <c:pt idx="89">
                  <c:v>      </c:v>
                </c:pt>
                <c:pt idx="90">
                  <c:v>       </c:v>
                </c:pt>
                <c:pt idx="91">
                  <c:v>        </c:v>
                </c:pt>
                <c:pt idx="92">
                  <c:v>         </c:v>
                </c:pt>
                <c:pt idx="93">
                  <c:v>          </c:v>
                </c:pt>
                <c:pt idx="94">
                  <c:v>           </c:v>
                </c:pt>
                <c:pt idx="95">
                  <c:v>            </c:v>
                </c:pt>
                <c:pt idx="96">
                  <c:v>jan/23</c:v>
                </c:pt>
                <c:pt idx="97">
                  <c:v>  </c:v>
                </c:pt>
                <c:pt idx="98">
                  <c:v>   </c:v>
                </c:pt>
                <c:pt idx="99">
                  <c:v>    </c:v>
                </c:pt>
                <c:pt idx="100">
                  <c:v>     </c:v>
                </c:pt>
                <c:pt idx="101">
                  <c:v>      </c:v>
                </c:pt>
                <c:pt idx="102">
                  <c:v>       </c:v>
                </c:pt>
                <c:pt idx="103">
                  <c:v>        </c:v>
                </c:pt>
                <c:pt idx="104">
                  <c:v>         </c:v>
                </c:pt>
                <c:pt idx="105">
                  <c:v>          </c:v>
                </c:pt>
                <c:pt idx="106">
                  <c:v>           </c:v>
                </c:pt>
                <c:pt idx="107">
                  <c:v>            </c:v>
                </c:pt>
                <c:pt idx="108">
                  <c:v>jan/24</c:v>
                </c:pt>
                <c:pt idx="109">
                  <c:v>  </c:v>
                </c:pt>
                <c:pt idx="110">
                  <c:v>   </c:v>
                </c:pt>
                <c:pt idx="111">
                  <c:v>    </c:v>
                </c:pt>
                <c:pt idx="112">
                  <c:v>     </c:v>
                </c:pt>
                <c:pt idx="113">
                  <c:v>      </c:v>
                </c:pt>
                <c:pt idx="114">
                  <c:v>       </c:v>
                </c:pt>
                <c:pt idx="115">
                  <c:v>        </c:v>
                </c:pt>
                <c:pt idx="116">
                  <c:v>         </c:v>
                </c:pt>
                <c:pt idx="117">
                  <c:v>          </c:v>
                </c:pt>
                <c:pt idx="118">
                  <c:v>           </c:v>
                </c:pt>
                <c:pt idx="119">
                  <c:v>            </c:v>
                </c:pt>
              </c:strCache>
            </c:strRef>
          </c:cat>
          <c:val>
            <c:numRef>
              <c:f>Sheet1!$B$2:$B$121</c:f>
              <c:numCache>
                <c:formatCode>General</c:formatCode>
                <c:ptCount val="120"/>
                <c:pt idx="0">
                  <c:v>1693</c:v>
                </c:pt>
                <c:pt idx="1">
                  <c:v>1298</c:v>
                </c:pt>
                <c:pt idx="2">
                  <c:v>1446</c:v>
                </c:pt>
                <c:pt idx="3">
                  <c:v>1335</c:v>
                </c:pt>
                <c:pt idx="4">
                  <c:v>1588</c:v>
                </c:pt>
                <c:pt idx="5">
                  <c:v>1334</c:v>
                </c:pt>
                <c:pt idx="6">
                  <c:v>1348</c:v>
                </c:pt>
                <c:pt idx="7">
                  <c:v>1307</c:v>
                </c:pt>
                <c:pt idx="8">
                  <c:v>1391</c:v>
                </c:pt>
                <c:pt idx="9">
                  <c:v>1289</c:v>
                </c:pt>
                <c:pt idx="10">
                  <c:v>1426</c:v>
                </c:pt>
                <c:pt idx="11">
                  <c:v>1376</c:v>
                </c:pt>
                <c:pt idx="12">
                  <c:v>1672</c:v>
                </c:pt>
                <c:pt idx="13">
                  <c:v>1721</c:v>
                </c:pt>
                <c:pt idx="14">
                  <c:v>1774</c:v>
                </c:pt>
                <c:pt idx="15">
                  <c:v>2045</c:v>
                </c:pt>
                <c:pt idx="16">
                  <c:v>1609</c:v>
                </c:pt>
                <c:pt idx="17">
                  <c:v>1797</c:v>
                </c:pt>
                <c:pt idx="18">
                  <c:v>1330</c:v>
                </c:pt>
                <c:pt idx="19">
                  <c:v>1356</c:v>
                </c:pt>
                <c:pt idx="20">
                  <c:v>1237</c:v>
                </c:pt>
                <c:pt idx="21">
                  <c:v>1483</c:v>
                </c:pt>
                <c:pt idx="22">
                  <c:v>1389</c:v>
                </c:pt>
                <c:pt idx="23">
                  <c:v>1423</c:v>
                </c:pt>
                <c:pt idx="24">
                  <c:v>1509</c:v>
                </c:pt>
                <c:pt idx="25">
                  <c:v>1310</c:v>
                </c:pt>
                <c:pt idx="26">
                  <c:v>1454</c:v>
                </c:pt>
                <c:pt idx="27">
                  <c:v>1348</c:v>
                </c:pt>
                <c:pt idx="28">
                  <c:v>1426</c:v>
                </c:pt>
                <c:pt idx="29">
                  <c:v>1456</c:v>
                </c:pt>
                <c:pt idx="30">
                  <c:v>1339</c:v>
                </c:pt>
                <c:pt idx="31">
                  <c:v>1467</c:v>
                </c:pt>
                <c:pt idx="32">
                  <c:v>1404</c:v>
                </c:pt>
                <c:pt idx="33">
                  <c:v>1428</c:v>
                </c:pt>
                <c:pt idx="34">
                  <c:v>1267</c:v>
                </c:pt>
                <c:pt idx="35">
                  <c:v>1271</c:v>
                </c:pt>
                <c:pt idx="36">
                  <c:v>1138</c:v>
                </c:pt>
                <c:pt idx="37">
                  <c:v>920</c:v>
                </c:pt>
                <c:pt idx="38">
                  <c:v>1112</c:v>
                </c:pt>
                <c:pt idx="39">
                  <c:v>891</c:v>
                </c:pt>
                <c:pt idx="40">
                  <c:v>1020</c:v>
                </c:pt>
                <c:pt idx="41">
                  <c:v>968</c:v>
                </c:pt>
                <c:pt idx="42">
                  <c:v>922</c:v>
                </c:pt>
                <c:pt idx="43">
                  <c:v>1074</c:v>
                </c:pt>
                <c:pt idx="44">
                  <c:v>1025</c:v>
                </c:pt>
                <c:pt idx="45">
                  <c:v>1013</c:v>
                </c:pt>
                <c:pt idx="46">
                  <c:v>901</c:v>
                </c:pt>
                <c:pt idx="47">
                  <c:v>955</c:v>
                </c:pt>
                <c:pt idx="48">
                  <c:v>857</c:v>
                </c:pt>
                <c:pt idx="49">
                  <c:v>913</c:v>
                </c:pt>
                <c:pt idx="50">
                  <c:v>889</c:v>
                </c:pt>
                <c:pt idx="51">
                  <c:v>978</c:v>
                </c:pt>
                <c:pt idx="52">
                  <c:v>1124</c:v>
                </c:pt>
                <c:pt idx="53">
                  <c:v>1021</c:v>
                </c:pt>
                <c:pt idx="54">
                  <c:v>981</c:v>
                </c:pt>
                <c:pt idx="55">
                  <c:v>1046</c:v>
                </c:pt>
                <c:pt idx="56">
                  <c:v>1013</c:v>
                </c:pt>
                <c:pt idx="57">
                  <c:v>1026</c:v>
                </c:pt>
                <c:pt idx="58">
                  <c:v>1014</c:v>
                </c:pt>
                <c:pt idx="59">
                  <c:v>986</c:v>
                </c:pt>
                <c:pt idx="60">
                  <c:v>849</c:v>
                </c:pt>
                <c:pt idx="61">
                  <c:v>836</c:v>
                </c:pt>
                <c:pt idx="62">
                  <c:v>705</c:v>
                </c:pt>
                <c:pt idx="63">
                  <c:v>479</c:v>
                </c:pt>
                <c:pt idx="64">
                  <c:v>531</c:v>
                </c:pt>
                <c:pt idx="65">
                  <c:v>680</c:v>
                </c:pt>
                <c:pt idx="66">
                  <c:v>701</c:v>
                </c:pt>
                <c:pt idx="67">
                  <c:v>867</c:v>
                </c:pt>
                <c:pt idx="68">
                  <c:v>856</c:v>
                </c:pt>
                <c:pt idx="69">
                  <c:v>878</c:v>
                </c:pt>
                <c:pt idx="70">
                  <c:v>860</c:v>
                </c:pt>
                <c:pt idx="71">
                  <c:v>988</c:v>
                </c:pt>
                <c:pt idx="72">
                  <c:v>1050</c:v>
                </c:pt>
                <c:pt idx="73">
                  <c:v>815</c:v>
                </c:pt>
                <c:pt idx="74">
                  <c:v>613</c:v>
                </c:pt>
                <c:pt idx="75">
                  <c:v>650</c:v>
                </c:pt>
                <c:pt idx="76">
                  <c:v>821</c:v>
                </c:pt>
                <c:pt idx="77">
                  <c:v>986</c:v>
                </c:pt>
                <c:pt idx="78">
                  <c:v>1015</c:v>
                </c:pt>
                <c:pt idx="79">
                  <c:v>986</c:v>
                </c:pt>
                <c:pt idx="80">
                  <c:v>922</c:v>
                </c:pt>
                <c:pt idx="81">
                  <c:v>963</c:v>
                </c:pt>
                <c:pt idx="82">
                  <c:v>875</c:v>
                </c:pt>
                <c:pt idx="83">
                  <c:v>977</c:v>
                </c:pt>
                <c:pt idx="84">
                  <c:v>750</c:v>
                </c:pt>
                <c:pt idx="85">
                  <c:v>842</c:v>
                </c:pt>
                <c:pt idx="86">
                  <c:v>857</c:v>
                </c:pt>
                <c:pt idx="87">
                  <c:v>870</c:v>
                </c:pt>
                <c:pt idx="88">
                  <c:v>882</c:v>
                </c:pt>
                <c:pt idx="89">
                  <c:v>877</c:v>
                </c:pt>
                <c:pt idx="90">
                  <c:v>830</c:v>
                </c:pt>
                <c:pt idx="91">
                  <c:v>960</c:v>
                </c:pt>
                <c:pt idx="92">
                  <c:v>943</c:v>
                </c:pt>
                <c:pt idx="93">
                  <c:v>1016</c:v>
                </c:pt>
                <c:pt idx="94">
                  <c:v>911</c:v>
                </c:pt>
                <c:pt idx="95">
                  <c:v>1009</c:v>
                </c:pt>
                <c:pt idx="96">
                  <c:v>990</c:v>
                </c:pt>
                <c:pt idx="97">
                  <c:v>889</c:v>
                </c:pt>
                <c:pt idx="98">
                  <c:v>993</c:v>
                </c:pt>
                <c:pt idx="99">
                  <c:v>913</c:v>
                </c:pt>
                <c:pt idx="100">
                  <c:v>891</c:v>
                </c:pt>
                <c:pt idx="101">
                  <c:v>998</c:v>
                </c:pt>
                <c:pt idx="102">
                  <c:v>907</c:v>
                </c:pt>
                <c:pt idx="103">
                  <c:v>872</c:v>
                </c:pt>
                <c:pt idx="104">
                  <c:v>905</c:v>
                </c:pt>
                <c:pt idx="105">
                  <c:v>935</c:v>
                </c:pt>
                <c:pt idx="106">
                  <c:v>954</c:v>
                </c:pt>
                <c:pt idx="107">
                  <c:v>1048</c:v>
                </c:pt>
                <c:pt idx="108">
                  <c:v>1046</c:v>
                </c:pt>
                <c:pt idx="109">
                  <c:v>959</c:v>
                </c:pt>
                <c:pt idx="110">
                  <c:v>981</c:v>
                </c:pt>
                <c:pt idx="111">
                  <c:v>1030</c:v>
                </c:pt>
                <c:pt idx="112">
                  <c:v>1007</c:v>
                </c:pt>
                <c:pt idx="113">
                  <c:v>1103</c:v>
                </c:pt>
                <c:pt idx="114">
                  <c:v>1150</c:v>
                </c:pt>
                <c:pt idx="115">
                  <c:v>1179</c:v>
                </c:pt>
                <c:pt idx="116">
                  <c:v>733</c:v>
                </c:pt>
                <c:pt idx="117">
                  <c:v>1282</c:v>
                </c:pt>
                <c:pt idx="118">
                  <c:v>1143</c:v>
                </c:pt>
                <c:pt idx="119">
                  <c:v>1129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BC-4E71-8333-76E21CE811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Tendência linear (R² = 0,416)</c:v>
                </c:pt>
              </c:strCache>
            </c:strRef>
          </c:tx>
          <c:spPr>
            <a:ln w="25400" cap="flat">
              <a:solidFill>
                <a:srgbClr val="D64545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Sheet1!$A$2:$A$121</c:f>
              <c:strCache>
                <c:ptCount val="120"/>
                <c:pt idx="0">
                  <c:v>jan/15</c:v>
                </c:pt>
                <c:pt idx="1">
                  <c:v>  </c:v>
                </c:pt>
                <c:pt idx="2">
                  <c:v>   </c:v>
                </c:pt>
                <c:pt idx="3">
                  <c:v>    </c:v>
                </c:pt>
                <c:pt idx="4">
                  <c:v>     </c:v>
                </c:pt>
                <c:pt idx="5">
                  <c:v>      </c:v>
                </c:pt>
                <c:pt idx="6">
                  <c:v>       </c:v>
                </c:pt>
                <c:pt idx="7">
                  <c:v>        </c:v>
                </c:pt>
                <c:pt idx="8">
                  <c:v>         </c:v>
                </c:pt>
                <c:pt idx="9">
                  <c:v>          </c:v>
                </c:pt>
                <c:pt idx="10">
                  <c:v>           </c:v>
                </c:pt>
                <c:pt idx="11">
                  <c:v>            </c:v>
                </c:pt>
                <c:pt idx="12">
                  <c:v>jan/16</c:v>
                </c:pt>
                <c:pt idx="13">
                  <c:v>  </c:v>
                </c:pt>
                <c:pt idx="14">
                  <c:v>   </c:v>
                </c:pt>
                <c:pt idx="15">
                  <c:v>    </c:v>
                </c:pt>
                <c:pt idx="16">
                  <c:v>     </c:v>
                </c:pt>
                <c:pt idx="17">
                  <c:v>      </c:v>
                </c:pt>
                <c:pt idx="18">
                  <c:v>       </c:v>
                </c:pt>
                <c:pt idx="19">
                  <c:v>        </c:v>
                </c:pt>
                <c:pt idx="20">
                  <c:v>         </c:v>
                </c:pt>
                <c:pt idx="21">
                  <c:v>          </c:v>
                </c:pt>
                <c:pt idx="22">
                  <c:v>           </c:v>
                </c:pt>
                <c:pt idx="23">
                  <c:v>            </c:v>
                </c:pt>
                <c:pt idx="24">
                  <c:v>jan/17</c:v>
                </c:pt>
                <c:pt idx="25">
                  <c:v>  </c:v>
                </c:pt>
                <c:pt idx="26">
                  <c:v>   </c:v>
                </c:pt>
                <c:pt idx="27">
                  <c:v>    </c:v>
                </c:pt>
                <c:pt idx="28">
                  <c:v>     </c:v>
                </c:pt>
                <c:pt idx="29">
                  <c:v>      </c:v>
                </c:pt>
                <c:pt idx="30">
                  <c:v>       </c:v>
                </c:pt>
                <c:pt idx="31">
                  <c:v>        </c:v>
                </c:pt>
                <c:pt idx="32">
                  <c:v>         </c:v>
                </c:pt>
                <c:pt idx="33">
                  <c:v>          </c:v>
                </c:pt>
                <c:pt idx="34">
                  <c:v>           </c:v>
                </c:pt>
                <c:pt idx="35">
                  <c:v>            </c:v>
                </c:pt>
                <c:pt idx="36">
                  <c:v>jan/18</c:v>
                </c:pt>
                <c:pt idx="37">
                  <c:v>  </c:v>
                </c:pt>
                <c:pt idx="38">
                  <c:v>   </c:v>
                </c:pt>
                <c:pt idx="39">
                  <c:v>    </c:v>
                </c:pt>
                <c:pt idx="40">
                  <c:v>     </c:v>
                </c:pt>
                <c:pt idx="41">
                  <c:v>      </c:v>
                </c:pt>
                <c:pt idx="42">
                  <c:v>       </c:v>
                </c:pt>
                <c:pt idx="43">
                  <c:v>        </c:v>
                </c:pt>
                <c:pt idx="44">
                  <c:v>         </c:v>
                </c:pt>
                <c:pt idx="45">
                  <c:v>          </c:v>
                </c:pt>
                <c:pt idx="46">
                  <c:v>           </c:v>
                </c:pt>
                <c:pt idx="47">
                  <c:v>            </c:v>
                </c:pt>
                <c:pt idx="48">
                  <c:v>jan/19</c:v>
                </c:pt>
                <c:pt idx="49">
                  <c:v>  </c:v>
                </c:pt>
                <c:pt idx="50">
                  <c:v>   </c:v>
                </c:pt>
                <c:pt idx="51">
                  <c:v>    </c:v>
                </c:pt>
                <c:pt idx="52">
                  <c:v>     </c:v>
                </c:pt>
                <c:pt idx="53">
                  <c:v>      </c:v>
                </c:pt>
                <c:pt idx="54">
                  <c:v>       </c:v>
                </c:pt>
                <c:pt idx="55">
                  <c:v>        </c:v>
                </c:pt>
                <c:pt idx="56">
                  <c:v>         </c:v>
                </c:pt>
                <c:pt idx="57">
                  <c:v>          </c:v>
                </c:pt>
                <c:pt idx="58">
                  <c:v>           </c:v>
                </c:pt>
                <c:pt idx="59">
                  <c:v>            </c:v>
                </c:pt>
                <c:pt idx="60">
                  <c:v>jan/20</c:v>
                </c:pt>
                <c:pt idx="61">
                  <c:v>  </c:v>
                </c:pt>
                <c:pt idx="62">
                  <c:v>   </c:v>
                </c:pt>
                <c:pt idx="63">
                  <c:v>    </c:v>
                </c:pt>
                <c:pt idx="64">
                  <c:v>     </c:v>
                </c:pt>
                <c:pt idx="65">
                  <c:v>      </c:v>
                </c:pt>
                <c:pt idx="66">
                  <c:v>       </c:v>
                </c:pt>
                <c:pt idx="67">
                  <c:v>        </c:v>
                </c:pt>
                <c:pt idx="68">
                  <c:v>         </c:v>
                </c:pt>
                <c:pt idx="69">
                  <c:v>          </c:v>
                </c:pt>
                <c:pt idx="70">
                  <c:v>           </c:v>
                </c:pt>
                <c:pt idx="71">
                  <c:v>            </c:v>
                </c:pt>
                <c:pt idx="72">
                  <c:v>jan/21</c:v>
                </c:pt>
                <c:pt idx="73">
                  <c:v>  </c:v>
                </c:pt>
                <c:pt idx="74">
                  <c:v>   </c:v>
                </c:pt>
                <c:pt idx="75">
                  <c:v>    </c:v>
                </c:pt>
                <c:pt idx="76">
                  <c:v>     </c:v>
                </c:pt>
                <c:pt idx="77">
                  <c:v>      </c:v>
                </c:pt>
                <c:pt idx="78">
                  <c:v>       </c:v>
                </c:pt>
                <c:pt idx="79">
                  <c:v>        </c:v>
                </c:pt>
                <c:pt idx="80">
                  <c:v>         </c:v>
                </c:pt>
                <c:pt idx="81">
                  <c:v>          </c:v>
                </c:pt>
                <c:pt idx="82">
                  <c:v>           </c:v>
                </c:pt>
                <c:pt idx="83">
                  <c:v>            </c:v>
                </c:pt>
                <c:pt idx="84">
                  <c:v>jan/22</c:v>
                </c:pt>
                <c:pt idx="85">
                  <c:v>  </c:v>
                </c:pt>
                <c:pt idx="86">
                  <c:v>   </c:v>
                </c:pt>
                <c:pt idx="87">
                  <c:v>    </c:v>
                </c:pt>
                <c:pt idx="88">
                  <c:v>     </c:v>
                </c:pt>
                <c:pt idx="89">
                  <c:v>      </c:v>
                </c:pt>
                <c:pt idx="90">
                  <c:v>       </c:v>
                </c:pt>
                <c:pt idx="91">
                  <c:v>        </c:v>
                </c:pt>
                <c:pt idx="92">
                  <c:v>         </c:v>
                </c:pt>
                <c:pt idx="93">
                  <c:v>          </c:v>
                </c:pt>
                <c:pt idx="94">
                  <c:v>           </c:v>
                </c:pt>
                <c:pt idx="95">
                  <c:v>            </c:v>
                </c:pt>
                <c:pt idx="96">
                  <c:v>jan/23</c:v>
                </c:pt>
                <c:pt idx="97">
                  <c:v>  </c:v>
                </c:pt>
                <c:pt idx="98">
                  <c:v>   </c:v>
                </c:pt>
                <c:pt idx="99">
                  <c:v>    </c:v>
                </c:pt>
                <c:pt idx="100">
                  <c:v>     </c:v>
                </c:pt>
                <c:pt idx="101">
                  <c:v>      </c:v>
                </c:pt>
                <c:pt idx="102">
                  <c:v>       </c:v>
                </c:pt>
                <c:pt idx="103">
                  <c:v>        </c:v>
                </c:pt>
                <c:pt idx="104">
                  <c:v>         </c:v>
                </c:pt>
                <c:pt idx="105">
                  <c:v>          </c:v>
                </c:pt>
                <c:pt idx="106">
                  <c:v>           </c:v>
                </c:pt>
                <c:pt idx="107">
                  <c:v>            </c:v>
                </c:pt>
                <c:pt idx="108">
                  <c:v>jan/24</c:v>
                </c:pt>
                <c:pt idx="109">
                  <c:v>  </c:v>
                </c:pt>
                <c:pt idx="110">
                  <c:v>   </c:v>
                </c:pt>
                <c:pt idx="111">
                  <c:v>    </c:v>
                </c:pt>
                <c:pt idx="112">
                  <c:v>     </c:v>
                </c:pt>
                <c:pt idx="113">
                  <c:v>      </c:v>
                </c:pt>
                <c:pt idx="114">
                  <c:v>       </c:v>
                </c:pt>
                <c:pt idx="115">
                  <c:v>        </c:v>
                </c:pt>
                <c:pt idx="116">
                  <c:v>         </c:v>
                </c:pt>
                <c:pt idx="117">
                  <c:v>          </c:v>
                </c:pt>
                <c:pt idx="118">
                  <c:v>           </c:v>
                </c:pt>
                <c:pt idx="119">
                  <c:v>            </c:v>
                </c:pt>
              </c:strCache>
            </c:strRef>
          </c:cat>
          <c:val>
            <c:numRef>
              <c:f>Sheet1!$C$2:$C$121</c:f>
              <c:numCache>
                <c:formatCode>General</c:formatCode>
                <c:ptCount val="120"/>
                <c:pt idx="0">
                  <c:v>1401.5976584022039</c:v>
                </c:pt>
                <c:pt idx="1">
                  <c:v>1396.3635240873209</c:v>
                </c:pt>
                <c:pt idx="2">
                  <c:v>1391.1293897724379</c:v>
                </c:pt>
                <c:pt idx="3">
                  <c:v>1385.8952554575551</c:v>
                </c:pt>
                <c:pt idx="4">
                  <c:v>1380.6611211426721</c:v>
                </c:pt>
                <c:pt idx="5">
                  <c:v>1375.4269868277891</c:v>
                </c:pt>
                <c:pt idx="6">
                  <c:v>1370.192852512906</c:v>
                </c:pt>
                <c:pt idx="7">
                  <c:v>1364.958718198023</c:v>
                </c:pt>
                <c:pt idx="8">
                  <c:v>1359.7245838831402</c:v>
                </c:pt>
                <c:pt idx="9">
                  <c:v>1354.4904495682572</c:v>
                </c:pt>
                <c:pt idx="10">
                  <c:v>1349.2563152533742</c:v>
                </c:pt>
                <c:pt idx="11">
                  <c:v>1344.0221809384911</c:v>
                </c:pt>
                <c:pt idx="12">
                  <c:v>1338.7880466236081</c:v>
                </c:pt>
                <c:pt idx="13">
                  <c:v>1333.5539123087253</c:v>
                </c:pt>
                <c:pt idx="14">
                  <c:v>1328.3197779938423</c:v>
                </c:pt>
                <c:pt idx="15">
                  <c:v>1323.0856436789593</c:v>
                </c:pt>
                <c:pt idx="16">
                  <c:v>1317.8515093640763</c:v>
                </c:pt>
                <c:pt idx="17">
                  <c:v>1312.6173750491932</c:v>
                </c:pt>
                <c:pt idx="18">
                  <c:v>1307.3832407343102</c:v>
                </c:pt>
                <c:pt idx="19">
                  <c:v>1302.1491064194274</c:v>
                </c:pt>
                <c:pt idx="20">
                  <c:v>1296.9149721045444</c:v>
                </c:pt>
                <c:pt idx="21">
                  <c:v>1291.6808377896614</c:v>
                </c:pt>
                <c:pt idx="22">
                  <c:v>1286.4467034747784</c:v>
                </c:pt>
                <c:pt idx="23">
                  <c:v>1281.2125691598953</c:v>
                </c:pt>
                <c:pt idx="24">
                  <c:v>1275.9784348450125</c:v>
                </c:pt>
                <c:pt idx="25">
                  <c:v>1270.7443005301295</c:v>
                </c:pt>
                <c:pt idx="26">
                  <c:v>1265.5101662152465</c:v>
                </c:pt>
                <c:pt idx="27">
                  <c:v>1260.2760319003635</c:v>
                </c:pt>
                <c:pt idx="28">
                  <c:v>1255.0418975854805</c:v>
                </c:pt>
                <c:pt idx="29">
                  <c:v>1249.8077632705977</c:v>
                </c:pt>
                <c:pt idx="30">
                  <c:v>1244.5736289557146</c:v>
                </c:pt>
                <c:pt idx="31">
                  <c:v>1239.3394946408316</c:v>
                </c:pt>
                <c:pt idx="32">
                  <c:v>1234.1053603259486</c:v>
                </c:pt>
                <c:pt idx="33">
                  <c:v>1228.8712260110656</c:v>
                </c:pt>
                <c:pt idx="34">
                  <c:v>1223.6370916961828</c:v>
                </c:pt>
                <c:pt idx="35">
                  <c:v>1218.4029573812998</c:v>
                </c:pt>
                <c:pt idx="36">
                  <c:v>1213.1688230664167</c:v>
                </c:pt>
                <c:pt idx="37">
                  <c:v>1207.9346887515337</c:v>
                </c:pt>
                <c:pt idx="38">
                  <c:v>1202.7005544366507</c:v>
                </c:pt>
                <c:pt idx="39">
                  <c:v>1197.4664201217679</c:v>
                </c:pt>
                <c:pt idx="40">
                  <c:v>1192.2322858068849</c:v>
                </c:pt>
                <c:pt idx="41">
                  <c:v>1186.9981514920019</c:v>
                </c:pt>
                <c:pt idx="42">
                  <c:v>1181.7640171771188</c:v>
                </c:pt>
                <c:pt idx="43">
                  <c:v>1176.5298828622358</c:v>
                </c:pt>
                <c:pt idx="44">
                  <c:v>1171.295748547353</c:v>
                </c:pt>
                <c:pt idx="45">
                  <c:v>1166.06161423247</c:v>
                </c:pt>
                <c:pt idx="46">
                  <c:v>1160.827479917587</c:v>
                </c:pt>
                <c:pt idx="47">
                  <c:v>1155.5933456027039</c:v>
                </c:pt>
                <c:pt idx="48">
                  <c:v>1150.3592112878209</c:v>
                </c:pt>
                <c:pt idx="49">
                  <c:v>1145.1250769729381</c:v>
                </c:pt>
                <c:pt idx="50">
                  <c:v>1139.8909426580551</c:v>
                </c:pt>
                <c:pt idx="51">
                  <c:v>1134.6568083431721</c:v>
                </c:pt>
                <c:pt idx="52">
                  <c:v>1129.4226740282891</c:v>
                </c:pt>
                <c:pt idx="53">
                  <c:v>1124.188539713406</c:v>
                </c:pt>
                <c:pt idx="54">
                  <c:v>1118.9544053985232</c:v>
                </c:pt>
                <c:pt idx="55">
                  <c:v>1113.7202710836402</c:v>
                </c:pt>
                <c:pt idx="56">
                  <c:v>1108.4861367687572</c:v>
                </c:pt>
                <c:pt idx="57">
                  <c:v>1103.2520024538742</c:v>
                </c:pt>
                <c:pt idx="58">
                  <c:v>1098.0178681389912</c:v>
                </c:pt>
                <c:pt idx="59">
                  <c:v>1092.7837338241084</c:v>
                </c:pt>
                <c:pt idx="60">
                  <c:v>1087.5495995092253</c:v>
                </c:pt>
                <c:pt idx="61">
                  <c:v>1082.3154651943423</c:v>
                </c:pt>
                <c:pt idx="62">
                  <c:v>1077.0813308794593</c:v>
                </c:pt>
                <c:pt idx="63">
                  <c:v>1071.8471965645763</c:v>
                </c:pt>
                <c:pt idx="64">
                  <c:v>1066.6130622496935</c:v>
                </c:pt>
                <c:pt idx="65">
                  <c:v>1061.3789279348105</c:v>
                </c:pt>
                <c:pt idx="66">
                  <c:v>1056.1447936199274</c:v>
                </c:pt>
                <c:pt idx="67">
                  <c:v>1050.9106593050444</c:v>
                </c:pt>
                <c:pt idx="68">
                  <c:v>1045.6765249901614</c:v>
                </c:pt>
                <c:pt idx="69">
                  <c:v>1040.4423906752786</c:v>
                </c:pt>
                <c:pt idx="70">
                  <c:v>1035.2082563603956</c:v>
                </c:pt>
                <c:pt idx="71">
                  <c:v>1029.9741220455126</c:v>
                </c:pt>
                <c:pt idx="72">
                  <c:v>1024.7399877306295</c:v>
                </c:pt>
                <c:pt idx="73">
                  <c:v>1019.5058534157465</c:v>
                </c:pt>
                <c:pt idx="74">
                  <c:v>1014.2717191008636</c:v>
                </c:pt>
                <c:pt idx="75">
                  <c:v>1009.0375847859807</c:v>
                </c:pt>
                <c:pt idx="76">
                  <c:v>1003.8034504710977</c:v>
                </c:pt>
                <c:pt idx="77">
                  <c:v>998.56931615621465</c:v>
                </c:pt>
                <c:pt idx="78">
                  <c:v>993.33518184133163</c:v>
                </c:pt>
                <c:pt idx="79">
                  <c:v>988.10104752644872</c:v>
                </c:pt>
                <c:pt idx="80">
                  <c:v>982.8669132115657</c:v>
                </c:pt>
                <c:pt idx="81">
                  <c:v>977.63277889668279</c:v>
                </c:pt>
                <c:pt idx="82">
                  <c:v>972.39864458179977</c:v>
                </c:pt>
                <c:pt idx="83">
                  <c:v>967.16451026691675</c:v>
                </c:pt>
                <c:pt idx="84">
                  <c:v>961.93037595203384</c:v>
                </c:pt>
                <c:pt idx="85">
                  <c:v>956.69624163715082</c:v>
                </c:pt>
                <c:pt idx="86">
                  <c:v>951.46210732226791</c:v>
                </c:pt>
                <c:pt idx="87">
                  <c:v>946.22797300738489</c:v>
                </c:pt>
                <c:pt idx="88">
                  <c:v>940.99383869250187</c:v>
                </c:pt>
                <c:pt idx="89">
                  <c:v>935.75970437761896</c:v>
                </c:pt>
                <c:pt idx="90">
                  <c:v>930.52557006273594</c:v>
                </c:pt>
                <c:pt idx="91">
                  <c:v>925.29143574785303</c:v>
                </c:pt>
                <c:pt idx="92">
                  <c:v>920.05730143297001</c:v>
                </c:pt>
                <c:pt idx="93">
                  <c:v>914.82316711808699</c:v>
                </c:pt>
                <c:pt idx="94">
                  <c:v>909.58903280320396</c:v>
                </c:pt>
                <c:pt idx="95">
                  <c:v>904.35489848832106</c:v>
                </c:pt>
                <c:pt idx="96">
                  <c:v>899.12076417343815</c:v>
                </c:pt>
                <c:pt idx="97">
                  <c:v>893.88662985855512</c:v>
                </c:pt>
                <c:pt idx="98">
                  <c:v>888.6524955436721</c:v>
                </c:pt>
                <c:pt idx="99">
                  <c:v>883.41836122878919</c:v>
                </c:pt>
                <c:pt idx="100">
                  <c:v>878.18422691390617</c:v>
                </c:pt>
                <c:pt idx="101">
                  <c:v>872.95009259902315</c:v>
                </c:pt>
                <c:pt idx="102">
                  <c:v>867.71595828414024</c:v>
                </c:pt>
                <c:pt idx="103">
                  <c:v>862.48182396925722</c:v>
                </c:pt>
                <c:pt idx="104">
                  <c:v>857.24768965437431</c:v>
                </c:pt>
                <c:pt idx="105">
                  <c:v>852.01355533949129</c:v>
                </c:pt>
                <c:pt idx="106">
                  <c:v>846.77942102460827</c:v>
                </c:pt>
                <c:pt idx="107">
                  <c:v>841.54528670972536</c:v>
                </c:pt>
                <c:pt idx="108">
                  <c:v>836.31115239484234</c:v>
                </c:pt>
                <c:pt idx="109">
                  <c:v>831.07701807995943</c:v>
                </c:pt>
                <c:pt idx="110">
                  <c:v>825.84288376507641</c:v>
                </c:pt>
                <c:pt idx="111">
                  <c:v>820.60874945019339</c:v>
                </c:pt>
                <c:pt idx="112">
                  <c:v>815.37461513531048</c:v>
                </c:pt>
                <c:pt idx="113">
                  <c:v>810.14048082042746</c:v>
                </c:pt>
                <c:pt idx="114">
                  <c:v>804.90634650554455</c:v>
                </c:pt>
                <c:pt idx="115">
                  <c:v>799.67221219066153</c:v>
                </c:pt>
                <c:pt idx="116">
                  <c:v>794.4380778757785</c:v>
                </c:pt>
                <c:pt idx="117">
                  <c:v>789.2039435608956</c:v>
                </c:pt>
                <c:pt idx="118">
                  <c:v>783.96980924601257</c:v>
                </c:pt>
                <c:pt idx="119">
                  <c:v>778.73567493112955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BC-4E71-8333-76E21CE811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2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55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Fatal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Cancela</c:v>
                </c:pt>
                <c:pt idx="1">
                  <c:v>Dê Preferência</c:v>
                </c:pt>
                <c:pt idx="2">
                  <c:v>Faixa de Pedestre</c:v>
                </c:pt>
                <c:pt idx="3">
                  <c:v>Gesto</c:v>
                </c:pt>
                <c:pt idx="4">
                  <c:v>Não Há Controle</c:v>
                </c:pt>
                <c:pt idx="5">
                  <c:v>Não Informado</c:v>
                </c:pt>
                <c:pt idx="6">
                  <c:v>Pare</c:v>
                </c:pt>
                <c:pt idx="7">
                  <c:v>Semáforo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1.21</c:v>
                </c:pt>
                <c:pt idx="2">
                  <c:v>0</c:v>
                </c:pt>
                <c:pt idx="3">
                  <c:v>1.84</c:v>
                </c:pt>
                <c:pt idx="4">
                  <c:v>1.82</c:v>
                </c:pt>
                <c:pt idx="5">
                  <c:v>1.59</c:v>
                </c:pt>
                <c:pt idx="6">
                  <c:v>1.04</c:v>
                </c:pt>
                <c:pt idx="7">
                  <c:v>1.1599999999999999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1E-4B89-B77D-6FCE264609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Ferido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Cancela</c:v>
                </c:pt>
                <c:pt idx="1">
                  <c:v>Dê Preferência</c:v>
                </c:pt>
                <c:pt idx="2">
                  <c:v>Faixa de Pedestre</c:v>
                </c:pt>
                <c:pt idx="3">
                  <c:v>Gesto</c:v>
                </c:pt>
                <c:pt idx="4">
                  <c:v>Não Há Controle</c:v>
                </c:pt>
                <c:pt idx="5">
                  <c:v>Não Informado</c:v>
                </c:pt>
                <c:pt idx="6">
                  <c:v>Pare</c:v>
                </c:pt>
                <c:pt idx="7">
                  <c:v>Semáforo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42.86</c:v>
                </c:pt>
                <c:pt idx="1">
                  <c:v>44.35</c:v>
                </c:pt>
                <c:pt idx="2">
                  <c:v>42.86</c:v>
                </c:pt>
                <c:pt idx="3">
                  <c:v>49.08</c:v>
                </c:pt>
                <c:pt idx="4">
                  <c:v>44.79</c:v>
                </c:pt>
                <c:pt idx="5">
                  <c:v>86.58</c:v>
                </c:pt>
                <c:pt idx="6">
                  <c:v>54.55</c:v>
                </c:pt>
                <c:pt idx="7">
                  <c:v>48.71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1E-4B89-B77D-6FCE2646099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Ileso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Cancela</c:v>
                </c:pt>
                <c:pt idx="1">
                  <c:v>Dê Preferência</c:v>
                </c:pt>
                <c:pt idx="2">
                  <c:v>Faixa de Pedestre</c:v>
                </c:pt>
                <c:pt idx="3">
                  <c:v>Gesto</c:v>
                </c:pt>
                <c:pt idx="4">
                  <c:v>Não Há Controle</c:v>
                </c:pt>
                <c:pt idx="5">
                  <c:v>Não Informado</c:v>
                </c:pt>
                <c:pt idx="6">
                  <c:v>Pare</c:v>
                </c:pt>
                <c:pt idx="7">
                  <c:v>Semáforo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38.96</c:v>
                </c:pt>
                <c:pt idx="1">
                  <c:v>35.69</c:v>
                </c:pt>
                <c:pt idx="2">
                  <c:v>57.14</c:v>
                </c:pt>
                <c:pt idx="3">
                  <c:v>41.54</c:v>
                </c:pt>
                <c:pt idx="4">
                  <c:v>40.39</c:v>
                </c:pt>
                <c:pt idx="5">
                  <c:v>7.51</c:v>
                </c:pt>
                <c:pt idx="6">
                  <c:v>34.01</c:v>
                </c:pt>
                <c:pt idx="7">
                  <c:v>39.01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1E-4B89-B77D-6FCE2646099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Não informado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Cancela</c:v>
                </c:pt>
                <c:pt idx="1">
                  <c:v>Dê Preferência</c:v>
                </c:pt>
                <c:pt idx="2">
                  <c:v>Faixa de Pedestre</c:v>
                </c:pt>
                <c:pt idx="3">
                  <c:v>Gesto</c:v>
                </c:pt>
                <c:pt idx="4">
                  <c:v>Não Há Controle</c:v>
                </c:pt>
                <c:pt idx="5">
                  <c:v>Não Informado</c:v>
                </c:pt>
                <c:pt idx="6">
                  <c:v>Pare</c:v>
                </c:pt>
                <c:pt idx="7">
                  <c:v>Semáforo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18.18</c:v>
                </c:pt>
                <c:pt idx="1">
                  <c:v>18.75</c:v>
                </c:pt>
                <c:pt idx="2">
                  <c:v>0</c:v>
                </c:pt>
                <c:pt idx="3">
                  <c:v>7.54</c:v>
                </c:pt>
                <c:pt idx="4">
                  <c:v>13</c:v>
                </c:pt>
                <c:pt idx="5">
                  <c:v>4.3099999999999996</c:v>
                </c:pt>
                <c:pt idx="6">
                  <c:v>10.39</c:v>
                </c:pt>
                <c:pt idx="7">
                  <c:v>11.12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A1E-4B89-B77D-6FCE264609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5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Sinistros</c:v>
                </c:pt>
              </c:strCache>
            </c:strRef>
          </c:tx>
          <c:spPr>
            <a:solidFill>
              <a:srgbClr val="12284C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Centro</c:v>
                </c:pt>
                <c:pt idx="1">
                  <c:v>Aldeota</c:v>
                </c:pt>
                <c:pt idx="2">
                  <c:v>Meireles</c:v>
                </c:pt>
                <c:pt idx="3">
                  <c:v>Parangaba</c:v>
                </c:pt>
                <c:pt idx="4">
                  <c:v>Fátima</c:v>
                </c:pt>
                <c:pt idx="5">
                  <c:v>Messejana</c:v>
                </c:pt>
                <c:pt idx="6">
                  <c:v>Mondubim</c:v>
                </c:pt>
                <c:pt idx="7">
                  <c:v>Montese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7464</c:v>
                </c:pt>
                <c:pt idx="1">
                  <c:v>5284</c:v>
                </c:pt>
                <c:pt idx="2">
                  <c:v>4098</c:v>
                </c:pt>
                <c:pt idx="3">
                  <c:v>3524</c:v>
                </c:pt>
                <c:pt idx="4">
                  <c:v>3378</c:v>
                </c:pt>
                <c:pt idx="5">
                  <c:v>3271</c:v>
                </c:pt>
                <c:pt idx="6">
                  <c:v>2724</c:v>
                </c:pt>
                <c:pt idx="7">
                  <c:v>2555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BC-4B6D-A6EE-0EC34C0FCE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Motos envolvidas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Centro</c:v>
                </c:pt>
                <c:pt idx="1">
                  <c:v>Aldeota</c:v>
                </c:pt>
                <c:pt idx="2">
                  <c:v>Meireles</c:v>
                </c:pt>
                <c:pt idx="3">
                  <c:v>Parangaba</c:v>
                </c:pt>
                <c:pt idx="4">
                  <c:v>Fátima</c:v>
                </c:pt>
                <c:pt idx="5">
                  <c:v>Messejana</c:v>
                </c:pt>
                <c:pt idx="6">
                  <c:v>Mondubim</c:v>
                </c:pt>
                <c:pt idx="7">
                  <c:v>Montese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4010</c:v>
                </c:pt>
                <c:pt idx="1">
                  <c:v>2548</c:v>
                </c:pt>
                <c:pt idx="2">
                  <c:v>1762</c:v>
                </c:pt>
                <c:pt idx="3">
                  <c:v>2431</c:v>
                </c:pt>
                <c:pt idx="4">
                  <c:v>1858</c:v>
                </c:pt>
                <c:pt idx="5">
                  <c:v>2029</c:v>
                </c:pt>
                <c:pt idx="6">
                  <c:v>1998</c:v>
                </c:pt>
                <c:pt idx="7">
                  <c:v>1633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BC-4B6D-A6EE-0EC34C0FCE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5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9F9-4C77-B76A-12CD0FA1DB27}"/>
              </c:ext>
            </c:extLst>
          </c:dPt>
          <c:dPt>
            <c:idx val="1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9F9-4C77-B76A-12CD0FA1DB27}"/>
              </c:ext>
            </c:extLst>
          </c:dPt>
          <c:dPt>
            <c:idx val="2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9F9-4C77-B76A-12CD0FA1DB27}"/>
              </c:ext>
            </c:extLst>
          </c:dPt>
          <c:dPt>
            <c:idx val="3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9F9-4C77-B76A-12CD0FA1DB27}"/>
              </c:ext>
            </c:extLst>
          </c:dPt>
          <c:dPt>
            <c:idx val="4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9F9-4C77-B76A-12CD0FA1DB27}"/>
              </c:ext>
            </c:extLst>
          </c:dPt>
          <c:dPt>
            <c:idx val="5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9F9-4C77-B76A-12CD0FA1DB27}"/>
              </c:ext>
            </c:extLst>
          </c:dPt>
          <c:dPt>
            <c:idx val="6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9F9-4C77-B76A-12CD0FA1DB27}"/>
              </c:ext>
            </c:extLst>
          </c:dPt>
          <c:dPt>
            <c:idx val="7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9F9-4C77-B76A-12CD0FA1DB27}"/>
              </c:ext>
            </c:extLst>
          </c:dPt>
          <c:dPt>
            <c:idx val="8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9F9-4C77-B76A-12CD0FA1DB27}"/>
              </c:ext>
            </c:extLst>
          </c:dPt>
          <c:dPt>
            <c:idx val="9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59F9-4C77-B76A-12CD0FA1DB27}"/>
              </c:ext>
            </c:extLst>
          </c:dPt>
          <c:dPt>
            <c:idx val="10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59F9-4C77-B76A-12CD0FA1DB27}"/>
              </c:ext>
            </c:extLst>
          </c:dPt>
          <c:dPt>
            <c:idx val="11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59F9-4C77-B76A-12CD0FA1DB27}"/>
              </c:ext>
            </c:extLst>
          </c:dPt>
          <c:dPt>
            <c:idx val="12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59F9-4C77-B76A-12CD0FA1DB27}"/>
              </c:ext>
            </c:extLst>
          </c:dPt>
          <c:dPt>
            <c:idx val="13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59F9-4C77-B76A-12CD0FA1DB27}"/>
              </c:ext>
            </c:extLst>
          </c:dPt>
          <c:dPt>
            <c:idx val="14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59F9-4C77-B76A-12CD0FA1DB27}"/>
              </c:ext>
            </c:extLst>
          </c:dPt>
          <c:dPt>
            <c:idx val="15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59F9-4C77-B76A-12CD0FA1DB27}"/>
              </c:ext>
            </c:extLst>
          </c:dPt>
          <c:dPt>
            <c:idx val="16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59F9-4C77-B76A-12CD0FA1DB27}"/>
              </c:ext>
            </c:extLst>
          </c:dPt>
          <c:dPt>
            <c:idx val="17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3-59F9-4C77-B76A-12CD0FA1DB2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02C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Rodovia CE-040</c:v>
                </c:pt>
                <c:pt idx="1">
                  <c:v>Av. Gen. Osório de Paiva</c:v>
                </c:pt>
                <c:pt idx="2">
                  <c:v>Av. Sen. Carlos Jereissati</c:v>
                </c:pt>
                <c:pt idx="3">
                  <c:v>Av. Godofredo Maciel</c:v>
                </c:pt>
                <c:pt idx="4">
                  <c:v>Av. Santos Dumont</c:v>
                </c:pt>
                <c:pt idx="5">
                  <c:v>Av. Antônio Sales</c:v>
                </c:pt>
                <c:pt idx="6">
                  <c:v>Av. Domingos Olímpio</c:v>
                </c:pt>
                <c:pt idx="7">
                  <c:v>Av. Pres. Costa e Silva</c:v>
                </c:pt>
                <c:pt idx="8">
                  <c:v>Av. Washington Soares</c:v>
                </c:pt>
                <c:pt idx="9">
                  <c:v>BR-116</c:v>
                </c:pt>
                <c:pt idx="10">
                  <c:v>Av. Dr. Silas Munguba</c:v>
                </c:pt>
                <c:pt idx="11">
                  <c:v>Av. Mister Hull</c:v>
                </c:pt>
                <c:pt idx="12">
                  <c:v>Av. Abolição</c:v>
                </c:pt>
                <c:pt idx="13">
                  <c:v>Av. 13 de Maio</c:v>
                </c:pt>
                <c:pt idx="14">
                  <c:v>Av. Francisco Sá</c:v>
                </c:pt>
                <c:pt idx="15">
                  <c:v>Av. João Pessoa</c:v>
                </c:pt>
                <c:pt idx="16">
                  <c:v>Av. Bezerra de Menezes</c:v>
                </c:pt>
                <c:pt idx="17">
                  <c:v>Rua Alberto Magno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2035</c:v>
                </c:pt>
                <c:pt idx="1">
                  <c:v>819</c:v>
                </c:pt>
                <c:pt idx="2">
                  <c:v>704</c:v>
                </c:pt>
                <c:pt idx="3">
                  <c:v>622</c:v>
                </c:pt>
                <c:pt idx="4">
                  <c:v>541</c:v>
                </c:pt>
                <c:pt idx="5">
                  <c:v>493</c:v>
                </c:pt>
                <c:pt idx="6">
                  <c:v>490</c:v>
                </c:pt>
                <c:pt idx="7">
                  <c:v>484</c:v>
                </c:pt>
                <c:pt idx="8">
                  <c:v>445</c:v>
                </c:pt>
                <c:pt idx="9">
                  <c:v>409</c:v>
                </c:pt>
                <c:pt idx="10">
                  <c:v>386</c:v>
                </c:pt>
                <c:pt idx="11">
                  <c:v>378</c:v>
                </c:pt>
                <c:pt idx="12">
                  <c:v>366</c:v>
                </c:pt>
                <c:pt idx="13">
                  <c:v>364</c:v>
                </c:pt>
                <c:pt idx="14">
                  <c:v>363</c:v>
                </c:pt>
                <c:pt idx="15">
                  <c:v>351</c:v>
                </c:pt>
                <c:pt idx="16">
                  <c:v>315</c:v>
                </c:pt>
                <c:pt idx="17">
                  <c:v>307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4-59F9-4C77-B76A-12CD0FA1DB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Gravidade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A33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7470-4BAF-A29E-5B7938561BE1}"/>
              </c:ext>
            </c:extLst>
          </c:dPt>
          <c:dPt>
            <c:idx val="1"/>
            <c:bubble3D val="0"/>
            <c:spPr>
              <a:solidFill>
                <a:srgbClr val="2E9E6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7470-4BAF-A29E-5B7938561BE1}"/>
              </c:ext>
            </c:extLst>
          </c:dPt>
          <c:dPt>
            <c:idx val="2"/>
            <c:bubble3D val="0"/>
            <c:spPr>
              <a:solidFill>
                <a:srgbClr val="A0AEC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7470-4BAF-A29E-5B7938561BE1}"/>
              </c:ext>
            </c:extLst>
          </c:dPt>
          <c:dPt>
            <c:idx val="3"/>
            <c:bubble3D val="0"/>
            <c:spPr>
              <a:solidFill>
                <a:srgbClr val="D64545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7470-4BAF-A29E-5B7938561BE1}"/>
              </c:ext>
            </c:extLst>
          </c:dPt>
          <c:cat>
            <c:strRef>
              <c:f>Sheet1!$A$2:$A$5</c:f>
              <c:strCache>
                <c:ptCount val="4"/>
                <c:pt idx="0">
                  <c:v>Ferido (72,3%)</c:v>
                </c:pt>
                <c:pt idx="1">
                  <c:v>Ileso (19,2%)</c:v>
                </c:pt>
                <c:pt idx="2">
                  <c:v>Não informado (7,1%)</c:v>
                </c:pt>
                <c:pt idx="3">
                  <c:v>Fatal (1,5%)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94597</c:v>
                </c:pt>
                <c:pt idx="1">
                  <c:v>25055</c:v>
                </c:pt>
                <c:pt idx="2">
                  <c:v>9242</c:v>
                </c:pt>
                <c:pt idx="3">
                  <c:v>1926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470-4BAF-A29E-5B7938561B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5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rgbClr val="12284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9FB-470A-8BDB-8513088492B3}"/>
              </c:ext>
            </c:extLst>
          </c:dPt>
          <c:dPt>
            <c:idx val="1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FB-470A-8BDB-8513088492B3}"/>
              </c:ext>
            </c:extLst>
          </c:dPt>
          <c:dPt>
            <c:idx val="2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FB-470A-8BDB-8513088492B3}"/>
              </c:ext>
            </c:extLst>
          </c:dPt>
          <c:dPt>
            <c:idx val="3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FB-470A-8BDB-8513088492B3}"/>
              </c:ext>
            </c:extLst>
          </c:dPt>
          <c:dPt>
            <c:idx val="4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9FB-470A-8BDB-8513088492B3}"/>
              </c:ext>
            </c:extLst>
          </c:dPt>
          <c:dPt>
            <c:idx val="5"/>
            <c:invertIfNegative val="0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9FB-470A-8BDB-8513088492B3}"/>
              </c:ext>
            </c:extLst>
          </c:dPt>
          <c:dPt>
            <c:idx val="6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9FB-470A-8BDB-8513088492B3}"/>
              </c:ext>
            </c:extLst>
          </c:dPt>
          <c:dPt>
            <c:idx val="7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9FB-470A-8BDB-8513088492B3}"/>
              </c:ext>
            </c:extLst>
          </c:dPt>
          <c:dPt>
            <c:idx val="8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69FB-470A-8BDB-8513088492B3}"/>
              </c:ext>
            </c:extLst>
          </c:dPt>
          <c:dPt>
            <c:idx val="9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69FB-470A-8BDB-8513088492B3}"/>
              </c:ext>
            </c:extLst>
          </c:dPt>
          <c:dLbls>
            <c:numFmt formatCode="0.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02C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'15</c:v>
                </c:pt>
                <c:pt idx="1">
                  <c:v>'16</c:v>
                </c:pt>
                <c:pt idx="2">
                  <c:v>'17</c:v>
                </c:pt>
                <c:pt idx="3">
                  <c:v>'18</c:v>
                </c:pt>
                <c:pt idx="4">
                  <c:v>'19</c:v>
                </c:pt>
                <c:pt idx="5">
                  <c:v>'20</c:v>
                </c:pt>
                <c:pt idx="6">
                  <c:v>'21</c:v>
                </c:pt>
                <c:pt idx="7">
                  <c:v>'22</c:v>
                </c:pt>
                <c:pt idx="8">
                  <c:v>'23</c:v>
                </c:pt>
                <c:pt idx="9">
                  <c:v>'24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16831</c:v>
                </c:pt>
                <c:pt idx="1">
                  <c:v>18836</c:v>
                </c:pt>
                <c:pt idx="2">
                  <c:v>16679</c:v>
                </c:pt>
                <c:pt idx="3">
                  <c:v>11939</c:v>
                </c:pt>
                <c:pt idx="4">
                  <c:v>11848</c:v>
                </c:pt>
                <c:pt idx="5">
                  <c:v>9230</c:v>
                </c:pt>
                <c:pt idx="6">
                  <c:v>10673</c:v>
                </c:pt>
                <c:pt idx="7">
                  <c:v>10747</c:v>
                </c:pt>
                <c:pt idx="8">
                  <c:v>11295</c:v>
                </c:pt>
                <c:pt idx="9">
                  <c:v>12742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69FB-470A-8BDB-8513088492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164-4C5A-AB7F-C825D8ACEE8A}"/>
              </c:ext>
            </c:extLst>
          </c:dPt>
          <c:dPt>
            <c:idx val="1"/>
            <c:invertIfNegative val="0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164-4C5A-AB7F-C825D8ACEE8A}"/>
              </c:ext>
            </c:extLst>
          </c:dPt>
          <c:dPt>
            <c:idx val="2"/>
            <c:invertIfNegative val="0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164-4C5A-AB7F-C825D8ACEE8A}"/>
              </c:ext>
            </c:extLst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164-4C5A-AB7F-C825D8ACEE8A}"/>
              </c:ext>
            </c:extLst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164-4C5A-AB7F-C825D8ACEE8A}"/>
              </c:ext>
            </c:extLst>
          </c:dPt>
          <c:dPt>
            <c:idx val="5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164-4C5A-AB7F-C825D8ACEE8A}"/>
              </c:ext>
            </c:extLst>
          </c:dPt>
          <c:dPt>
            <c:idx val="6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164-4C5A-AB7F-C825D8ACEE8A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02C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Ciclomotor</c:v>
                </c:pt>
                <c:pt idx="1">
                  <c:v>Caminhão</c:v>
                </c:pt>
                <c:pt idx="2">
                  <c:v>Ônibus</c:v>
                </c:pt>
                <c:pt idx="3">
                  <c:v>Bicicleta</c:v>
                </c:pt>
                <c:pt idx="4">
                  <c:v>Micro</c:v>
                </c:pt>
                <c:pt idx="5">
                  <c:v>Motocicleta</c:v>
                </c:pt>
                <c:pt idx="6">
                  <c:v>Automóvel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5.2083333333333339</c:v>
                </c:pt>
                <c:pt idx="1">
                  <c:v>3.890641430073607</c:v>
                </c:pt>
                <c:pt idx="2">
                  <c:v>3.6406995230524646</c:v>
                </c:pt>
                <c:pt idx="3">
                  <c:v>2.9380717804363123</c:v>
                </c:pt>
                <c:pt idx="4">
                  <c:v>2</c:v>
                </c:pt>
                <c:pt idx="5">
                  <c:v>1.6476233397842051</c:v>
                </c:pt>
                <c:pt idx="6">
                  <c:v>1.0351768427106298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164-4C5A-AB7F-C825D8ACEE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DC6-4FD6-88B8-A245B1FE7DF2}"/>
              </c:ext>
            </c:extLst>
          </c:dPt>
          <c:dPt>
            <c:idx val="1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DC6-4FD6-88B8-A245B1FE7DF2}"/>
              </c:ext>
            </c:extLst>
          </c:dPt>
          <c:dPt>
            <c:idx val="2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DC6-4FD6-88B8-A245B1FE7DF2}"/>
              </c:ext>
            </c:extLst>
          </c:dPt>
          <c:dPt>
            <c:idx val="3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DC6-4FD6-88B8-A245B1FE7DF2}"/>
              </c:ext>
            </c:extLst>
          </c:dPt>
          <c:dPt>
            <c:idx val="4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DC6-4FD6-88B8-A245B1FE7DF2}"/>
              </c:ext>
            </c:extLst>
          </c:dPt>
          <c:dPt>
            <c:idx val="5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DC6-4FD6-88B8-A245B1FE7DF2}"/>
              </c:ext>
            </c:extLst>
          </c:dPt>
          <c:dPt>
            <c:idx val="6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DC6-4FD6-88B8-A245B1FE7DF2}"/>
              </c:ext>
            </c:extLst>
          </c:dPt>
          <c:dPt>
            <c:idx val="7"/>
            <c:invertIfNegative val="0"/>
            <c:bubble3D val="0"/>
            <c:spPr>
              <a:solidFill>
                <a:srgbClr val="122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DC6-4FD6-88B8-A245B1FE7DF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02C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CE-040</c:v>
                </c:pt>
                <c:pt idx="1">
                  <c:v>Osório de Paiva</c:v>
                </c:pt>
                <c:pt idx="2">
                  <c:v>Carlos Jereissati</c:v>
                </c:pt>
                <c:pt idx="3">
                  <c:v>Godofredo Maciel</c:v>
                </c:pt>
                <c:pt idx="4">
                  <c:v>Santos Dumont</c:v>
                </c:pt>
                <c:pt idx="5">
                  <c:v>Antônio Sales</c:v>
                </c:pt>
                <c:pt idx="6">
                  <c:v>Domingos Olímpio</c:v>
                </c:pt>
                <c:pt idx="7">
                  <c:v>Costa e Silva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2035</c:v>
                </c:pt>
                <c:pt idx="1">
                  <c:v>819</c:v>
                </c:pt>
                <c:pt idx="2">
                  <c:v>704</c:v>
                </c:pt>
                <c:pt idx="3">
                  <c:v>622</c:v>
                </c:pt>
                <c:pt idx="4">
                  <c:v>541</c:v>
                </c:pt>
                <c:pt idx="5">
                  <c:v>493</c:v>
                </c:pt>
                <c:pt idx="6">
                  <c:v>490</c:v>
                </c:pt>
                <c:pt idx="7">
                  <c:v>484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DC6-4FD6-88B8-A245B1FE7D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7383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228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228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6C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24.xml"/><Relationship Id="rId5" Type="http://schemas.openxmlformats.org/officeDocument/2006/relationships/chart" Target="../charts/chart23.xml"/><Relationship Id="rId4" Type="http://schemas.openxmlformats.org/officeDocument/2006/relationships/chart" Target="../charts/chart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0"/>
          <p:cNvSpPr/>
          <p:nvPr/>
        </p:nvSpPr>
        <p:spPr>
          <a:xfrm>
            <a:off x="8595360" y="822960"/>
            <a:ext cx="5120640" cy="5120640"/>
          </a:xfrm>
          <a:prstGeom prst="ellipse">
            <a:avLst/>
          </a:prstGeom>
          <a:solidFill>
            <a:srgbClr val="8A97AB">
              <a:alpha val="20000"/>
            </a:srgbClr>
          </a:solidFill>
          <a:ln w="9525">
            <a:solidFill>
              <a:srgbClr val="8A97A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Círculo 1"/>
          <p:cNvSpPr/>
          <p:nvPr/>
        </p:nvSpPr>
        <p:spPr>
          <a:xfrm>
            <a:off x="9326880" y="1554480"/>
            <a:ext cx="3657600" cy="3657600"/>
          </a:xfrm>
          <a:prstGeom prst="ellipse">
            <a:avLst/>
          </a:prstGeom>
          <a:solidFill>
            <a:srgbClr val="8A97AB">
              <a:alpha val="20000"/>
            </a:srgbClr>
          </a:solidFill>
          <a:ln w="9525">
            <a:solidFill>
              <a:srgbClr val="8A97A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Círculo 2"/>
          <p:cNvSpPr/>
          <p:nvPr/>
        </p:nvSpPr>
        <p:spPr>
          <a:xfrm>
            <a:off x="10058400" y="2286000"/>
            <a:ext cx="2194560" cy="2194560"/>
          </a:xfrm>
          <a:prstGeom prst="ellipse">
            <a:avLst/>
          </a:prstGeom>
          <a:solidFill>
            <a:srgbClr val="4A5568">
              <a:alpha val="80000"/>
            </a:srgbClr>
          </a:solidFill>
          <a:ln w="9525">
            <a:solidFill>
              <a:srgbClr val="8A97A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05256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130.820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5DCE8"/>
                </a:solidFill>
              </a:rPr>
              <a:t>sinistros analisados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40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33A"/>
                </a:solidFill>
              </a:rPr>
              <a:t>INSTITUTO FEDERAL DO CEARÁ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91440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Sinistros de Trânsito na Cidade de Fortaleza (2015-2024)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54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B6CC"/>
                </a:solidFill>
              </a:rPr>
              <a:t>ALUNOS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56432"/>
            <a:ext cx="6949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Anady Carvalho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João Pedro Martins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Jordan Elias Barbosa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Jordan Elizeu Barbosa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Márcio Rosário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166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B6CC"/>
                </a:solidFill>
              </a:rPr>
              <a:t>PROFESSOR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40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Prof. Dr. Valberto Feitosa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6CC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dos dados</a:t>
            </a:r>
            <a:endParaRPr lang="en-US" sz="3000" dirty="0"/>
          </a:p>
        </p:txBody>
      </p:sp>
      <p:sp>
        <p:nvSpPr>
          <p:cNvPr id="3" name="KPI registros (sinistros) na base final"/>
          <p:cNvSpPr/>
          <p:nvPr/>
        </p:nvSpPr>
        <p:spPr>
          <a:xfrm>
            <a:off x="548640" y="13716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31520" y="1508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130.820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78608"/>
            <a:ext cx="2286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registros (sinistros) na base final</a:t>
            </a:r>
            <a:endParaRPr lang="en-US" sz="1300" dirty="0"/>
          </a:p>
        </p:txBody>
      </p:sp>
      <p:sp>
        <p:nvSpPr>
          <p:cNvPr id="6" name="KPI colunas na base final"/>
          <p:cNvSpPr/>
          <p:nvPr/>
        </p:nvSpPr>
        <p:spPr>
          <a:xfrm>
            <a:off x="3383280" y="13716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3566160" y="1508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578608"/>
            <a:ext cx="2286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colunas na base final</a:t>
            </a:r>
            <a:endParaRPr lang="en-US" sz="1300" dirty="0"/>
          </a:p>
        </p:txBody>
      </p:sp>
      <p:sp>
        <p:nvSpPr>
          <p:cNvPr id="9" name="KPI sinistros com morte (1,5% do total)"/>
          <p:cNvSpPr/>
          <p:nvPr/>
        </p:nvSpPr>
        <p:spPr>
          <a:xfrm>
            <a:off x="548640" y="374904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731520" y="3886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1.926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956048"/>
            <a:ext cx="2286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sinistros com morte (1,5% do total)</a:t>
            </a:r>
            <a:endParaRPr lang="en-US" sz="1300" dirty="0"/>
          </a:p>
        </p:txBody>
      </p:sp>
      <p:sp>
        <p:nvSpPr>
          <p:cNvPr id="12" name="KPI variável alvo: nº de mortes por sinistro"/>
          <p:cNvSpPr/>
          <p:nvPr/>
        </p:nvSpPr>
        <p:spPr>
          <a:xfrm>
            <a:off x="3383280" y="374904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3566160" y="3886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MORTOS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4956048"/>
            <a:ext cx="2286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variável alvo: nº de mortes por sinistro</a:t>
            </a:r>
            <a:endParaRPr lang="en-US" sz="1300" dirty="0"/>
          </a:p>
        </p:txBody>
      </p:sp>
      <p:sp>
        <p:nvSpPr>
          <p:cNvPr id="15" name="Painel importância"/>
          <p:cNvSpPr/>
          <p:nvPr/>
        </p:nvSpPr>
        <p:spPr>
          <a:xfrm>
            <a:off x="6400800" y="1371600"/>
            <a:ext cx="5239512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667512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analisar estes dados?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219456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Vidas: cada morte no trânsito pode ser evitada. Saber onde, quando e como os sinistros acontecem mostra o que prevenir.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Poder público: dados organizados indicam onde investir em sinalização, fiscalização e obras.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</a:rPr>
              <a:t>Sociedade: informação clara permite cobrar resultados e adotar um comportamento mais seguro.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do projeto</a:t>
            </a:r>
            <a:endParaRPr lang="en-US" sz="3000" dirty="0"/>
          </a:p>
        </p:txBody>
      </p:sp>
      <p:sp>
        <p:nvSpPr>
          <p:cNvPr id="3" name="Etapa 1"/>
          <p:cNvSpPr/>
          <p:nvPr/>
        </p:nvSpPr>
        <p:spPr>
          <a:xfrm>
            <a:off x="548640" y="1554480"/>
            <a:ext cx="1691640" cy="393192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Número 1"/>
          <p:cNvSpPr/>
          <p:nvPr/>
        </p:nvSpPr>
        <p:spPr>
          <a:xfrm>
            <a:off x="685800" y="1737360"/>
            <a:ext cx="548640" cy="548640"/>
          </a:xfrm>
          <a:prstGeom prst="ellipse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de origem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00400"/>
            <a:ext cx="144475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</a:rPr>
              <a:t>Registros de sinistros de trânsito de Fortaleza, de 2015 a 2024.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212848" y="32918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5568"/>
                </a:solidFill>
              </a:rPr>
              <a:t>›</a:t>
            </a:r>
            <a:endParaRPr lang="en-US" sz="2600" dirty="0"/>
          </a:p>
        </p:txBody>
      </p:sp>
      <p:sp>
        <p:nvSpPr>
          <p:cNvPr id="9" name="Etapa 2"/>
          <p:cNvSpPr/>
          <p:nvPr/>
        </p:nvSpPr>
        <p:spPr>
          <a:xfrm>
            <a:off x="2423160" y="1554480"/>
            <a:ext cx="1691640" cy="393192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Número 2"/>
          <p:cNvSpPr/>
          <p:nvPr/>
        </p:nvSpPr>
        <p:spPr>
          <a:xfrm>
            <a:off x="2560320" y="1737360"/>
            <a:ext cx="548640" cy="54864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25603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02C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423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Tratamento dos dados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3200400"/>
            <a:ext cx="144475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</a:rPr>
              <a:t>Houve tratamento: textos padronizados, variáveis de vítimas e veículos completas e colunas criadas (hora inteira, faixa horária, fim de semana, total de veículos).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087368" y="32918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5568"/>
                </a:solidFill>
              </a:rPr>
              <a:t>›</a:t>
            </a:r>
            <a:endParaRPr lang="en-US" sz="2600" dirty="0"/>
          </a:p>
        </p:txBody>
      </p:sp>
      <p:sp>
        <p:nvSpPr>
          <p:cNvPr id="15" name="Etapa 3"/>
          <p:cNvSpPr/>
          <p:nvPr/>
        </p:nvSpPr>
        <p:spPr>
          <a:xfrm>
            <a:off x="4297680" y="1554480"/>
            <a:ext cx="1691640" cy="393192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Número 3"/>
          <p:cNvSpPr/>
          <p:nvPr/>
        </p:nvSpPr>
        <p:spPr>
          <a:xfrm>
            <a:off x="4434840" y="1737360"/>
            <a:ext cx="548640" cy="548640"/>
          </a:xfrm>
          <a:prstGeom prst="ellipse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44348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2423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final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3200400"/>
            <a:ext cx="144475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</a:rPr>
              <a:t>130.820 linhas e 27 colunas. Variável alvo: mortos.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961888" y="32918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5568"/>
                </a:solidFill>
              </a:rPr>
              <a:t>›</a:t>
            </a:r>
            <a:endParaRPr lang="en-US" sz="2600" dirty="0"/>
          </a:p>
        </p:txBody>
      </p:sp>
      <p:sp>
        <p:nvSpPr>
          <p:cNvPr id="21" name="Etapa 4"/>
          <p:cNvSpPr/>
          <p:nvPr/>
        </p:nvSpPr>
        <p:spPr>
          <a:xfrm>
            <a:off x="6172200" y="1554480"/>
            <a:ext cx="1691640" cy="393192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Número 4"/>
          <p:cNvSpPr/>
          <p:nvPr/>
        </p:nvSpPr>
        <p:spPr>
          <a:xfrm>
            <a:off x="6309360" y="1737360"/>
            <a:ext cx="548640" cy="548640"/>
          </a:xfrm>
          <a:prstGeom prst="ellipse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63093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2423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exploratória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3200400"/>
            <a:ext cx="144475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</a:rPr>
              <a:t>Passos 1 a 8: visão geral, </a:t>
            </a:r>
            <a:r>
              <a:rPr lang="en-US" sz="1300" dirty="0" err="1">
                <a:solidFill>
                  <a:srgbClr val="1A202C"/>
                </a:solidFill>
              </a:rPr>
              <a:t>análises</a:t>
            </a:r>
            <a:r>
              <a:rPr lang="en-US" sz="1300" dirty="0">
                <a:solidFill>
                  <a:srgbClr val="1A202C"/>
                </a:solidFill>
              </a:rPr>
              <a:t> com </a:t>
            </a:r>
            <a:r>
              <a:rPr lang="en-US" sz="1300" dirty="0" err="1">
                <a:solidFill>
                  <a:srgbClr val="1A202C"/>
                </a:solidFill>
              </a:rPr>
              <a:t>variavel</a:t>
            </a:r>
            <a:r>
              <a:rPr lang="en-US" sz="1300" dirty="0">
                <a:solidFill>
                  <a:srgbClr val="1A202C"/>
                </a:solidFill>
              </a:rPr>
              <a:t> </a:t>
            </a:r>
            <a:r>
              <a:rPr lang="en-US" sz="1300" dirty="0" err="1">
                <a:solidFill>
                  <a:srgbClr val="1A202C"/>
                </a:solidFill>
              </a:rPr>
              <a:t>alvo</a:t>
            </a:r>
            <a:r>
              <a:rPr lang="en-US" sz="1300" dirty="0">
                <a:solidFill>
                  <a:srgbClr val="1A202C"/>
                </a:solidFill>
              </a:rPr>
              <a:t>, correlações.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836408" y="32918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5568"/>
                </a:solidFill>
              </a:rPr>
              <a:t>›</a:t>
            </a:r>
            <a:endParaRPr lang="en-US" sz="2600" dirty="0"/>
          </a:p>
        </p:txBody>
      </p:sp>
      <p:sp>
        <p:nvSpPr>
          <p:cNvPr id="27" name="Etapa 5"/>
          <p:cNvSpPr/>
          <p:nvPr/>
        </p:nvSpPr>
        <p:spPr>
          <a:xfrm>
            <a:off x="8046720" y="1554480"/>
            <a:ext cx="1691640" cy="393192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Número 5"/>
          <p:cNvSpPr/>
          <p:nvPr/>
        </p:nvSpPr>
        <p:spPr>
          <a:xfrm>
            <a:off x="8183880" y="1737360"/>
            <a:ext cx="548640" cy="548640"/>
          </a:xfrm>
          <a:prstGeom prst="ellipse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81838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183880" y="2423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estatísticos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183880" y="3200400"/>
            <a:ext cx="144475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</a:rPr>
              <a:t>Passos 9 a 11: qui-quadrado, ANOVA,  5 hipóteses.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710928" y="32918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5568"/>
                </a:solidFill>
              </a:rPr>
              <a:t>›</a:t>
            </a:r>
            <a:endParaRPr lang="en-US" sz="2600" dirty="0"/>
          </a:p>
        </p:txBody>
      </p:sp>
      <p:sp>
        <p:nvSpPr>
          <p:cNvPr id="33" name="Etapa 6"/>
          <p:cNvSpPr/>
          <p:nvPr/>
        </p:nvSpPr>
        <p:spPr>
          <a:xfrm>
            <a:off x="9921240" y="1554480"/>
            <a:ext cx="1691640" cy="393192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Número 6"/>
          <p:cNvSpPr/>
          <p:nvPr/>
        </p:nvSpPr>
        <p:spPr>
          <a:xfrm>
            <a:off x="10058400" y="173736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 txBox="1"/>
          <p:nvPr/>
        </p:nvSpPr>
        <p:spPr>
          <a:xfrm>
            <a:off x="100584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0058400" y="2423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Vias críticas e dashboard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0058400" y="3200400"/>
            <a:ext cx="144475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</a:rPr>
              <a:t>Ranking de 18 vias, mapa, recomendações e painel final.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1: Análise descritiva</a:t>
            </a:r>
            <a:endParaRPr lang="en-US" sz="3000" dirty="0"/>
          </a:p>
        </p:txBody>
      </p:sp>
      <p:sp>
        <p:nvSpPr>
          <p:cNvPr id="3" name="Markdown passo 1"/>
          <p:cNvSpPr/>
          <p:nvPr/>
        </p:nvSpPr>
        <p:spPr>
          <a:xfrm>
            <a:off x="548640" y="13716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77240" y="13716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 1 · Iniciando a Análise Descritiva</a:t>
            </a:r>
            <a:endParaRPr lang="en-US" sz="1200" dirty="0"/>
          </a:p>
        </p:txBody>
      </p:sp>
      <p:sp>
        <p:nvSpPr>
          <p:cNvPr id="5" name="Texto passo 1"/>
          <p:cNvSpPr/>
          <p:nvPr/>
        </p:nvSpPr>
        <p:spPr>
          <a:xfrm>
            <a:off x="548640" y="2468880"/>
            <a:ext cx="45720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achados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4114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A base tem 130.820 registros, de 2015 a 2024.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72,3% dos sinistros deixam feridos (94.597); 1,47% são fatais (1.926).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Em média, cada sinistro envolve 1,62 veículos e 1,07 feridos.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2015 a 2017 passaram de 16 mil casos por ano; o mínimo foi 2020 (9.230), ano da pandemia.</a:t>
            </a:r>
            <a:endParaRPr lang="en-US" sz="1400" dirty="0"/>
          </a:p>
        </p:txBody>
      </p:sp>
      <p:sp>
        <p:nvSpPr>
          <p:cNvPr id="8" name="Visual passo 1"/>
          <p:cNvSpPr/>
          <p:nvPr/>
        </p:nvSpPr>
        <p:spPr>
          <a:xfrm>
            <a:off x="5394960" y="1371600"/>
            <a:ext cx="6245352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623560" y="1508760"/>
            <a:ext cx="5788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84C"/>
                </a:solidFill>
              </a:rPr>
              <a:t>Gravidade e evolução anual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</a:rPr>
              <a:t>Gravidade dos sinistros</a:t>
            </a:r>
            <a:endParaRPr lang="en-US" sz="12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486400" y="2194560"/>
          <a:ext cx="2728112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8396387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</a:rPr>
              <a:t>Sinistros por ano</a:t>
            </a:r>
            <a:endParaRPr lang="en-US" sz="1200" dirty="0"/>
          </a:p>
        </p:txBody>
      </p:sp>
      <p:graphicFrame>
        <p:nvGraphicFramePr>
          <p:cNvPr id="13" name="Chart 1"/>
          <p:cNvGraphicFramePr/>
          <p:nvPr/>
        </p:nvGraphicFramePr>
        <p:xfrm>
          <a:off x="8275137" y="2194560"/>
          <a:ext cx="3273735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1 (cont.): Estatísticas descritivas</a:t>
            </a:r>
            <a:endParaRPr lang="en-US" sz="3000" dirty="0"/>
          </a:p>
        </p:txBody>
      </p:sp>
      <p:sp>
        <p:nvSpPr>
          <p:cNvPr id="3" name="Markdown passo 1b"/>
          <p:cNvSpPr/>
          <p:nvPr/>
        </p:nvSpPr>
        <p:spPr>
          <a:xfrm>
            <a:off x="548640" y="13716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77240" y="13716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 1 · Estatísticas descritivas</a:t>
            </a:r>
            <a:endParaRPr lang="en-US" sz="1200" dirty="0"/>
          </a:p>
        </p:txBody>
      </p:sp>
      <p:sp>
        <p:nvSpPr>
          <p:cNvPr id="5" name="Texto passo 1b"/>
          <p:cNvSpPr/>
          <p:nvPr/>
        </p:nvSpPr>
        <p:spPr>
          <a:xfrm>
            <a:off x="548640" y="2468880"/>
            <a:ext cx="45720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achados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4114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Média: o valor típico por sinistro.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Registros: quantos sinistros entram na conta.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Mortos: média de 0,015, ou seja, cerca de 1,5 morte a cada 100 sinistros.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Casos extremos são raros: até 26 feridos e 19 veículos em um único sinistro.</a:t>
            </a:r>
            <a:endParaRPr lang="en-US" sz="1400" dirty="0"/>
          </a:p>
        </p:txBody>
      </p:sp>
      <p:sp>
        <p:nvSpPr>
          <p:cNvPr id="8" name="Visual passo 1b"/>
          <p:cNvSpPr/>
          <p:nvPr/>
        </p:nvSpPr>
        <p:spPr>
          <a:xfrm>
            <a:off x="5394960" y="1371600"/>
            <a:ext cx="6245352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623560" y="1508760"/>
            <a:ext cx="5788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84C"/>
                </a:solidFill>
              </a:rPr>
              <a:t>Variáveis de vítimas e veículos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2194560"/>
          <a:ext cx="5879591" cy="3291840"/>
        </p:xfrm>
        <a:graphic>
          <a:graphicData uri="http://schemas.openxmlformats.org/drawingml/2006/table">
            <a:tbl>
              <a:tblPr/>
              <a:tblGrid>
                <a:gridCol w="215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Variável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Registros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Média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Máximo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202C"/>
                          </a:solidFill>
                        </a:rPr>
                        <a:t>Mortos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130.820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0,015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202C"/>
                          </a:solidFill>
                        </a:rPr>
                        <a:t>Feridos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130.820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1,070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26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202C"/>
                          </a:solidFill>
                        </a:rPr>
                        <a:t>Ilesos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130.820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0,528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202C"/>
                          </a:solidFill>
                        </a:rPr>
                        <a:t>Total de veículos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130.820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1,619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19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577840" y="5669280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Total de mortes na base: 1.986.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2: Horários dos acidentes</a:t>
            </a:r>
            <a:endParaRPr lang="en-US" sz="3000" dirty="0"/>
          </a:p>
        </p:txBody>
      </p:sp>
      <p:sp>
        <p:nvSpPr>
          <p:cNvPr id="3" name="Markdown passo 2"/>
          <p:cNvSpPr/>
          <p:nvPr/>
        </p:nvSpPr>
        <p:spPr>
          <a:xfrm>
            <a:off x="548640" y="13716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77240" y="13716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 2 · horários em que mais ocorre os acidentes</a:t>
            </a:r>
            <a:endParaRPr lang="en-US" sz="1200" dirty="0"/>
          </a:p>
        </p:txBody>
      </p:sp>
      <p:sp>
        <p:nvSpPr>
          <p:cNvPr id="5" name="Texto passo 2"/>
          <p:cNvSpPr/>
          <p:nvPr/>
        </p:nvSpPr>
        <p:spPr>
          <a:xfrm>
            <a:off x="548640" y="2468880"/>
            <a:ext cx="45720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achados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4114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Os picos acontecem às 16h (8.172 sinistros) e às 7h (8.066).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Eles coincidem com os horários de pico do trânsito: ida e volta do trabalho e da escola.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O movimento cai de madrugada, com o mínimo à 1h.</a:t>
            </a:r>
            <a:endParaRPr lang="en-US" sz="1400" dirty="0"/>
          </a:p>
        </p:txBody>
      </p:sp>
      <p:sp>
        <p:nvSpPr>
          <p:cNvPr id="8" name="Visual passo 2"/>
          <p:cNvSpPr/>
          <p:nvPr/>
        </p:nvSpPr>
        <p:spPr>
          <a:xfrm>
            <a:off x="5394960" y="1371600"/>
            <a:ext cx="6245352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623560" y="1508760"/>
            <a:ext cx="5788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84C"/>
                </a:solidFill>
              </a:rPr>
              <a:t>Sinistros por hora do dia</a:t>
            </a:r>
            <a:endParaRPr lang="en-US" sz="16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5486400" y="1920240"/>
          <a:ext cx="6062472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3: Faixa de horário e fim de semana</a:t>
            </a:r>
            <a:endParaRPr lang="en-US" sz="3000" dirty="0"/>
          </a:p>
        </p:txBody>
      </p:sp>
      <p:sp>
        <p:nvSpPr>
          <p:cNvPr id="3" name="Markdown passo 3"/>
          <p:cNvSpPr/>
          <p:nvPr/>
        </p:nvSpPr>
        <p:spPr>
          <a:xfrm>
            <a:off x="548640" y="13716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77240" y="13716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 3 · ACIDENTES POR FAIXA DE HORÁRIO E FIM DE SEMANA</a:t>
            </a:r>
            <a:endParaRPr lang="en-US" sz="1200" dirty="0"/>
          </a:p>
        </p:txBody>
      </p:sp>
      <p:sp>
        <p:nvSpPr>
          <p:cNvPr id="5" name="Texto passo 3"/>
          <p:cNvSpPr/>
          <p:nvPr/>
        </p:nvSpPr>
        <p:spPr>
          <a:xfrm>
            <a:off x="548640" y="2468880"/>
            <a:ext cx="45720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achados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4114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A tarde lidera: 45.401 sinistros; depois a manhã: 41.862.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Dias úteis: 95.048 sinistros (72,7%). Fins de semana: 35.772 (27,3%).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O volume é maior nos dias úteis, mas a gravidade é outra história (veja os passos 7 e 11).</a:t>
            </a:r>
            <a:endParaRPr lang="en-US" sz="1400" dirty="0"/>
          </a:p>
        </p:txBody>
      </p:sp>
      <p:sp>
        <p:nvSpPr>
          <p:cNvPr id="8" name="Visual passo 3"/>
          <p:cNvSpPr/>
          <p:nvPr/>
        </p:nvSpPr>
        <p:spPr>
          <a:xfrm>
            <a:off x="5394960" y="1371600"/>
            <a:ext cx="6245352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623560" y="1508760"/>
            <a:ext cx="5788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84C"/>
                </a:solidFill>
              </a:rPr>
              <a:t>Sinistros por faixa e por tipo de dia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</a:rPr>
              <a:t>Faixa horária</a:t>
            </a:r>
            <a:endParaRPr lang="en-US" sz="12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486400" y="2194560"/>
          <a:ext cx="3394984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9123883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</a:rPr>
              <a:t>Tipo de dia</a:t>
            </a:r>
            <a:endParaRPr lang="en-US" sz="1200" dirty="0"/>
          </a:p>
        </p:txBody>
      </p:sp>
      <p:graphicFrame>
        <p:nvGraphicFramePr>
          <p:cNvPr id="13" name="Chart 1"/>
          <p:cNvGraphicFramePr/>
          <p:nvPr/>
        </p:nvGraphicFramePr>
        <p:xfrm>
          <a:off x="8942009" y="2194560"/>
          <a:ext cx="2606863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4: Bairros com mais sinistros e mortes</a:t>
            </a:r>
            <a:endParaRPr lang="en-US" sz="3000" dirty="0"/>
          </a:p>
        </p:txBody>
      </p:sp>
      <p:sp>
        <p:nvSpPr>
          <p:cNvPr id="3" name="Markdown passo 4"/>
          <p:cNvSpPr/>
          <p:nvPr/>
        </p:nvSpPr>
        <p:spPr>
          <a:xfrm>
            <a:off x="548640" y="137160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77240" y="1371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 4 · BAIRROS COM MAIOR NUMERO DE ACIDENTES E BAIRROS COM MAIOR NUMERO DE MORTOS</a:t>
            </a:r>
            <a:endParaRPr lang="en-US" sz="1050" dirty="0"/>
          </a:p>
        </p:txBody>
      </p:sp>
      <p:sp>
        <p:nvSpPr>
          <p:cNvPr id="5" name="Texto passo 4"/>
          <p:cNvSpPr/>
          <p:nvPr/>
        </p:nvSpPr>
        <p:spPr>
          <a:xfrm>
            <a:off x="548640" y="2468880"/>
            <a:ext cx="42062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achados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37490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Centro lidera em sinistros (7.464; 5,71%), seguido de Aldeota (5.284) e Meireles (4.098).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Centro também lidera em mortes (73; 3,68%), mas Cajazeiras (61) e Messejana (53) vêm logo depois.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Bairros centrais têm muito movimento; bairros de vias rápidas têm alta letalidade.</a:t>
            </a:r>
            <a:endParaRPr lang="en-US" sz="1400" dirty="0"/>
          </a:p>
        </p:txBody>
      </p:sp>
      <p:sp>
        <p:nvSpPr>
          <p:cNvPr id="8" name="Visual passo 4"/>
          <p:cNvSpPr/>
          <p:nvPr/>
        </p:nvSpPr>
        <p:spPr>
          <a:xfrm>
            <a:off x="5029200" y="1371600"/>
            <a:ext cx="6611112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257800" y="1508760"/>
            <a:ext cx="6153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84C"/>
                </a:solidFill>
              </a:rPr>
              <a:t>Top 10 bairros: sinistros e mortes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</a:rPr>
              <a:t>Sinistros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26196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</a:rPr>
              <a:t>Mortes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5120640" y="2194560"/>
          <a:ext cx="3214116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"/>
          <p:cNvGraphicFramePr/>
          <p:nvPr/>
        </p:nvGraphicFramePr>
        <p:xfrm>
          <a:off x="8334756" y="2194560"/>
          <a:ext cx="3214116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5: Veículos envolvidos</a:t>
            </a:r>
            <a:endParaRPr lang="en-US" sz="3000" dirty="0"/>
          </a:p>
        </p:txBody>
      </p:sp>
      <p:sp>
        <p:nvSpPr>
          <p:cNvPr id="3" name="Markdown passo 5"/>
          <p:cNvSpPr/>
          <p:nvPr/>
        </p:nvSpPr>
        <p:spPr>
          <a:xfrm>
            <a:off x="548640" y="13716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77240" y="13716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 5 · AUTOMÓVEIS ENVOLVIDOS NOS ACIDENTES</a:t>
            </a:r>
            <a:endParaRPr lang="en-US" sz="1200" dirty="0"/>
          </a:p>
        </p:txBody>
      </p:sp>
      <p:sp>
        <p:nvSpPr>
          <p:cNvPr id="5" name="Texto passo 5"/>
          <p:cNvSpPr/>
          <p:nvPr/>
        </p:nvSpPr>
        <p:spPr>
          <a:xfrm>
            <a:off x="548640" y="2468880"/>
            <a:ext cx="45720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achados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4114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Automóveis: 51,8% dos veículos envolvidos (109.636).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Motocicletas: 40,0% (84.798). Juntos, passam de 91%.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Ônibus 3,0%, bicicletas 2,7% e caminhões 1,8%.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Micro-ônibus, ciclomotores, trens e tração animal somam menos de 1%.</a:t>
            </a:r>
            <a:endParaRPr lang="en-US" sz="1400" dirty="0"/>
          </a:p>
        </p:txBody>
      </p:sp>
      <p:sp>
        <p:nvSpPr>
          <p:cNvPr id="8" name="Visual passo 5"/>
          <p:cNvSpPr/>
          <p:nvPr/>
        </p:nvSpPr>
        <p:spPr>
          <a:xfrm>
            <a:off x="5394960" y="1371600"/>
            <a:ext cx="6245352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623560" y="1508760"/>
            <a:ext cx="5788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84C"/>
                </a:solidFill>
              </a:rPr>
              <a:t>Veículos envolvidos em sinistros</a:t>
            </a:r>
            <a:endParaRPr lang="en-US" sz="16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5486400" y="1920240"/>
          <a:ext cx="6062472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6: Veículos nos mesmos sinistros</a:t>
            </a:r>
            <a:endParaRPr lang="en-US" sz="3000" dirty="0"/>
          </a:p>
        </p:txBody>
      </p:sp>
      <p:sp>
        <p:nvSpPr>
          <p:cNvPr id="3" name="Markdown passo 6"/>
          <p:cNvSpPr/>
          <p:nvPr/>
        </p:nvSpPr>
        <p:spPr>
          <a:xfrm>
            <a:off x="548640" y="137160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77240" y="1371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 6 · AUTOMÓVEIS ENVOLVIDOS EM COLISÕES</a:t>
            </a:r>
            <a:endParaRPr lang="en-US" sz="1200" dirty="0"/>
          </a:p>
        </p:txBody>
      </p:sp>
      <p:sp>
        <p:nvSpPr>
          <p:cNvPr id="5" name="Texto passo 6"/>
          <p:cNvSpPr/>
          <p:nvPr/>
        </p:nvSpPr>
        <p:spPr>
          <a:xfrm>
            <a:off x="548640" y="246888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achados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3108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Automóvel e moto juntos: 44.956 sinistros, o par mais frequente.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Só a diagonal conta cada veículo sozinho: automóvel em 83.464 sinistros e moto em 75.442.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Ônibus com automóvel: 3.739. Ônibus com moto: 1.401.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Bicicleta com automóvel: 2.142; com moto: 326. Ciclistas são muito vulneráveis.</a:t>
            </a:r>
            <a:endParaRPr lang="en-US" sz="1400" dirty="0"/>
          </a:p>
        </p:txBody>
      </p:sp>
      <p:sp>
        <p:nvSpPr>
          <p:cNvPr id="8" name="Visual passo 6"/>
          <p:cNvSpPr/>
          <p:nvPr/>
        </p:nvSpPr>
        <p:spPr>
          <a:xfrm>
            <a:off x="4389120" y="1371600"/>
            <a:ext cx="7251192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4617720" y="1508760"/>
            <a:ext cx="6793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84C"/>
                </a:solidFill>
              </a:rPr>
              <a:t>Quantos sinistros têm cada par de veículos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2011680"/>
          <a:ext cx="6976872" cy="40233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3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3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3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32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32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32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32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32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Auto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Ônibus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Bici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Cam.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Micro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Ciclo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Moto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Tração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Trem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Automóvel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83.464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899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3.739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C1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2.142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2.031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1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499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390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44.956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Ônibus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3.739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C1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6.290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F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127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52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53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1.401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Bicicleta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2.142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5.684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0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326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Caminhão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2.031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1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127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3.804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1.312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A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Micro-ônibus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499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52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750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161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Ciclomotor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390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53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576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63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Motocicleta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44.956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1.401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326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1.312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A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161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63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75.442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8F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Tração animal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Trem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Text 8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7: O que mais influencia as mortes</a:t>
            </a:r>
            <a:endParaRPr lang="en-US" sz="3000" dirty="0"/>
          </a:p>
        </p:txBody>
      </p:sp>
      <p:sp>
        <p:nvSpPr>
          <p:cNvPr id="3" name="Markdown passo 7"/>
          <p:cNvSpPr/>
          <p:nvPr/>
        </p:nvSpPr>
        <p:spPr>
          <a:xfrm>
            <a:off x="548640" y="13716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77240" y="13716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 7 · VARIAVEIS QUE MAIS INFLUENCIAM A VARIAVEL ALVO (MORTOS)</a:t>
            </a:r>
            <a:endParaRPr lang="en-US" sz="1050" dirty="0"/>
          </a:p>
        </p:txBody>
      </p:sp>
      <p:sp>
        <p:nvSpPr>
          <p:cNvPr id="5" name="Texto passo 7"/>
          <p:cNvSpPr/>
          <p:nvPr/>
        </p:nvSpPr>
        <p:spPr>
          <a:xfrm>
            <a:off x="548640" y="2468880"/>
            <a:ext cx="45720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achados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4114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Quem mais mata por sinistro: ciclomotor (5,21%), caminhão (3,89%) e ônibus (3,64%).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Automóvel e moto têm mais sinistros, mas menor taxa de morte (1,04% e 1,65%).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Madrugada (2,22%) e noite (2,13%) são os horários mais letais.</a:t>
            </a:r>
            <a:endParaRPr lang="en-US" sz="1400" dirty="0"/>
          </a:p>
        </p:txBody>
      </p:sp>
      <p:sp>
        <p:nvSpPr>
          <p:cNvPr id="8" name="Visual passo 7"/>
          <p:cNvSpPr/>
          <p:nvPr/>
        </p:nvSpPr>
        <p:spPr>
          <a:xfrm>
            <a:off x="5394960" y="1371600"/>
            <a:ext cx="6245352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623560" y="1508760"/>
            <a:ext cx="5788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84C"/>
                </a:solidFill>
              </a:rPr>
              <a:t>Taxa de mortalidade (% de mortes por sinistro)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</a:rPr>
              <a:t>Por tipo de veículo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942009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</a:rPr>
              <a:t>Por faixa horária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5486400" y="2194560"/>
          <a:ext cx="3394984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"/>
          <p:cNvGraphicFramePr/>
          <p:nvPr/>
        </p:nvGraphicFramePr>
        <p:xfrm>
          <a:off x="9002634" y="2194560"/>
          <a:ext cx="2546238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8: Correlação entre variáveis</a:t>
            </a:r>
            <a:endParaRPr lang="en-US" sz="3000" dirty="0"/>
          </a:p>
        </p:txBody>
      </p:sp>
      <p:sp>
        <p:nvSpPr>
          <p:cNvPr id="3" name="Markdown passo 8"/>
          <p:cNvSpPr/>
          <p:nvPr/>
        </p:nvSpPr>
        <p:spPr>
          <a:xfrm>
            <a:off x="548640" y="137160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77240" y="1371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Análise de Correlação entre as Variáveis Numéricas</a:t>
            </a:r>
            <a:endParaRPr lang="en-US" sz="1200" dirty="0"/>
          </a:p>
        </p:txBody>
      </p:sp>
      <p:sp>
        <p:nvSpPr>
          <p:cNvPr id="5" name="Texto passo 8"/>
          <p:cNvSpPr/>
          <p:nvPr/>
        </p:nvSpPr>
        <p:spPr>
          <a:xfrm>
            <a:off x="548640" y="246888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achados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3108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Correlação vai de -1 a +1: perto de 0 quase não há relação.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Total de veículos × automóveis: r = 0,67 (forte).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Motocicletas × feridos: r = 0,30 (moderada): quem anda de moto se fere mais.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Feridos × ilesos: r = -0,59: onde há mais feridos, há menos ilesos.</a:t>
            </a:r>
            <a:endParaRPr lang="en-US" sz="1400" dirty="0"/>
          </a:p>
        </p:txBody>
      </p:sp>
      <p:sp>
        <p:nvSpPr>
          <p:cNvPr id="8" name="Visual passo 8"/>
          <p:cNvSpPr/>
          <p:nvPr/>
        </p:nvSpPr>
        <p:spPr>
          <a:xfrm>
            <a:off x="4389120" y="1371600"/>
            <a:ext cx="7251192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4617720" y="1508760"/>
            <a:ext cx="6793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84C"/>
                </a:solidFill>
              </a:rPr>
              <a:t>Matriz de correlação de Pearson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2011680"/>
          <a:ext cx="6976872" cy="40233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3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3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3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32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32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32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32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32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Mortos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Feridos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Ilesos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Auto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Ônibus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Bici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Cam.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Moto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Mortos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1,00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-0,11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-0,06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0,04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0,02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0,03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0,01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Feridos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-0,11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1,00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-0,58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64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-0,16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-0,10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0,01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-0,07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0,30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0,04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Ilesos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-0,58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64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1,00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0,47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9B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0,20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6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-0,09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0,11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-0,33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7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0,29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2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Automóvel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-0,06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-0,16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0,47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9B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1,00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-0,06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-0,13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-0,06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-0,39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8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0,67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72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Ônibus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0,04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-0,10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0,20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6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-0,06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1,00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-0,02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-0,15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0,10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Bicicleta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0,02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0,01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-0,09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-0,13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-0,02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1,00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-0,21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-0,04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Caminhão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0,03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-0,07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0,11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-0,06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1,00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-0,09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0,10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Motocicleta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0,01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0,30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-0,33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7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-0,39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8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-0,15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-0,21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-0,09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1,00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0,29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2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veículos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-0,03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0,04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0,29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0,67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72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0,10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-0,04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0,10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0,29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</a:rPr>
                        <a:t>1,00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9: Qui-quadrado: variáveis de categoria</a:t>
            </a:r>
            <a:endParaRPr lang="en-US" sz="3000" dirty="0"/>
          </a:p>
        </p:txBody>
      </p:sp>
      <p:sp>
        <p:nvSpPr>
          <p:cNvPr id="3" name="Markdown passo 9"/>
          <p:cNvSpPr/>
          <p:nvPr/>
        </p:nvSpPr>
        <p:spPr>
          <a:xfrm>
            <a:off x="548640" y="137160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77240" y="1371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 9 · QUI-QUADRADO ENTRE VARIAVEIS QUALITATIVAS</a:t>
            </a:r>
            <a:endParaRPr lang="en-US" sz="1200" dirty="0"/>
          </a:p>
        </p:txBody>
      </p:sp>
      <p:sp>
        <p:nvSpPr>
          <p:cNvPr id="5" name="Texto passo 9"/>
          <p:cNvSpPr/>
          <p:nvPr/>
        </p:nvSpPr>
        <p:spPr>
          <a:xfrm>
            <a:off x="548640" y="2468880"/>
            <a:ext cx="42062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achados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37490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O qui-quadrado testa se duas categorias estão ligadas. O V de Cramér mede a força (0 a 1).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Gravidade × controle de tráfego: p &lt; 0,001 e V = 0,24 (efeito moderado a forte).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Gravidade × tipo de cruzamento: p &lt; 0,001 e V = 0,13 (efeito fraco a moderado).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Ou seja, o local e a sinalização mudam o perfil de gravidade.</a:t>
            </a:r>
            <a:endParaRPr lang="en-US" sz="1400" dirty="0"/>
          </a:p>
        </p:txBody>
      </p:sp>
      <p:sp>
        <p:nvSpPr>
          <p:cNvPr id="8" name="Visual passo 9"/>
          <p:cNvSpPr/>
          <p:nvPr/>
        </p:nvSpPr>
        <p:spPr>
          <a:xfrm>
            <a:off x="5029200" y="1371600"/>
            <a:ext cx="6611112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257800" y="1508760"/>
            <a:ext cx="6153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84C"/>
                </a:solidFill>
              </a:rPr>
              <a:t>Proporção de gravidade (%), por controle e por cruzamento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</a:rPr>
              <a:t>Controle de tráfego (V = 0,24)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26196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</a:rPr>
              <a:t>Tipo de cruzamento (V = 0,13)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5120640" y="2194560"/>
          <a:ext cx="3214116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"/>
          <p:cNvGraphicFramePr/>
          <p:nvPr/>
        </p:nvGraphicFramePr>
        <p:xfrm>
          <a:off x="8334756" y="2194560"/>
          <a:ext cx="3214116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10: Variáveis numéricas e categorias</a:t>
            </a:r>
            <a:endParaRPr lang="en-US" sz="3000" dirty="0"/>
          </a:p>
        </p:txBody>
      </p:sp>
      <p:sp>
        <p:nvSpPr>
          <p:cNvPr id="3" name="Markdown passo 10"/>
          <p:cNvSpPr/>
          <p:nvPr/>
        </p:nvSpPr>
        <p:spPr>
          <a:xfrm>
            <a:off x="548640" y="137160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77240" y="1371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 10 · VARIAVEIS NUMÉRICAS E CATEGÓRICAS</a:t>
            </a:r>
            <a:endParaRPr lang="en-US" sz="1200" dirty="0"/>
          </a:p>
        </p:txBody>
      </p:sp>
      <p:sp>
        <p:nvSpPr>
          <p:cNvPr id="5" name="Texto passo 10"/>
          <p:cNvSpPr/>
          <p:nvPr/>
        </p:nvSpPr>
        <p:spPr>
          <a:xfrm>
            <a:off x="548640" y="2468880"/>
            <a:ext cx="42062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achados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37490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O R² diz quanto da variação de um número é explicada por uma categoria (0 a 1).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Feridos × gravidade: R² = 0,442. A gravidade explica 44,2% da variação de feridos.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Total de veículos × gravidade: R² = 0,017. Quase nenhuma relação: sinistro grave pode ter 1 ou vários veículos.</a:t>
            </a:r>
            <a:endParaRPr lang="en-US" sz="1400" dirty="0"/>
          </a:p>
        </p:txBody>
      </p:sp>
      <p:sp>
        <p:nvSpPr>
          <p:cNvPr id="8" name="Visual passo 10"/>
          <p:cNvSpPr/>
          <p:nvPr/>
        </p:nvSpPr>
        <p:spPr>
          <a:xfrm>
            <a:off x="5029200" y="1371600"/>
            <a:ext cx="6611112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257800" y="1508760"/>
            <a:ext cx="6153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84C"/>
                </a:solidFill>
              </a:rPr>
              <a:t>Média por classe de </a:t>
            </a:r>
            <a:r>
              <a:rPr lang="en-US" sz="1600" b="1" dirty="0" err="1">
                <a:solidFill>
                  <a:srgbClr val="12284C"/>
                </a:solidFill>
              </a:rPr>
              <a:t>gravidade</a:t>
            </a:r>
            <a:r>
              <a:rPr lang="en-US" sz="1600" b="1" dirty="0">
                <a:solidFill>
                  <a:srgbClr val="12284C"/>
                </a:solidFill>
              </a:rPr>
              <a:t> 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</a:rPr>
              <a:t>Feridos por sinistro (R² = 0,442)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26196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</a:rPr>
              <a:t>Veículos por sinistro (R² = 0,017)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5120640" y="2194560"/>
          <a:ext cx="3214116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"/>
          <p:cNvGraphicFramePr/>
          <p:nvPr/>
        </p:nvGraphicFramePr>
        <p:xfrm>
          <a:off x="8334756" y="2194560"/>
          <a:ext cx="3214116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11: 5 testes de hipóteses</a:t>
            </a:r>
            <a:endParaRPr lang="en-US" sz="3000" dirty="0"/>
          </a:p>
        </p:txBody>
      </p:sp>
      <p:sp>
        <p:nvSpPr>
          <p:cNvPr id="3" name="Markdown passo 11"/>
          <p:cNvSpPr/>
          <p:nvPr/>
        </p:nvSpPr>
        <p:spPr>
          <a:xfrm>
            <a:off x="548640" y="123444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77240" y="12344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84C"/>
                </a:solidFill>
              </a:rPr>
              <a:t>PASSO 11 · 5 TESTES DE HIPÓTESES. H0 = “não há efeito”; rejeitar H0 (p &lt; 0,05) = há evidência de efeito.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2" cy="4114800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Hipótese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Decisão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H1: mortes são mais frequentes na madrugada e/ou fim de semana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Qui-quadrado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E49"/>
                          </a:solidFill>
                        </a:rPr>
                        <a:t>Rejeita H0: há relação (efeito fraco)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H2: motos aumentam o número de feridos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ANOVA e Pearson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E49"/>
                          </a:solidFill>
                        </a:rPr>
                        <a:t>Rejeita H0: há relação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H3: o número mensal de sinistros tem tendência de queda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Regressão linear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E49"/>
                          </a:solidFill>
                        </a:rPr>
                        <a:t>Rejeita H0: há relação com o tempo (queda)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H4: a gravidade depende do controle de tráfego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Qui-quadrado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E49"/>
                          </a:solidFill>
                        </a:rPr>
                        <a:t>Rejeita H0: há relação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H5: sinistros por bairro são explicados por motos e cruzamentos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</a:rPr>
                        <a:t>Regressão múltipla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E49"/>
                          </a:solidFill>
                        </a:rPr>
                        <a:t>Rejeita H0: há relação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 e H2: horário e motocicletas</a:t>
            </a:r>
            <a:endParaRPr lang="en-US" sz="3000" dirty="0"/>
          </a:p>
        </p:txBody>
      </p:sp>
      <p:sp>
        <p:nvSpPr>
          <p:cNvPr id="3" name="Card H1"/>
          <p:cNvSpPr/>
          <p:nvPr/>
        </p:nvSpPr>
        <p:spPr>
          <a:xfrm>
            <a:off x="548640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77240" y="148132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84C"/>
                </a:solidFill>
              </a:rPr>
              <a:t>H1: fatais na madrugada e fim de semana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85800" y="1965960"/>
          <a:ext cx="51663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7240" y="46177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Sinistros fatais (%): 1,20% contra 1,92%.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300" dirty="0">
              <a:solidFill>
                <a:srgbClr val="1A202C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7" name="Decisão H1"/>
          <p:cNvSpPr/>
          <p:nvPr/>
        </p:nvSpPr>
        <p:spPr>
          <a:xfrm>
            <a:off x="777240" y="5760720"/>
            <a:ext cx="4983480" cy="365760"/>
          </a:xfrm>
          <a:prstGeom prst="roundRect">
            <a:avLst>
              <a:gd name="adj" fmla="val 20000"/>
            </a:avLst>
          </a:prstGeom>
          <a:solidFill>
            <a:srgbClr val="E6F4EC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 txBox="1"/>
          <p:nvPr/>
        </p:nvSpPr>
        <p:spPr>
          <a:xfrm>
            <a:off x="777240" y="57607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E49"/>
                </a:solidFill>
              </a:rPr>
              <a:t>Rejeita H0: há mais mortes nesses períodos</a:t>
            </a:r>
            <a:endParaRPr lang="en-US" sz="1300" dirty="0"/>
          </a:p>
        </p:txBody>
      </p:sp>
      <p:sp>
        <p:nvSpPr>
          <p:cNvPr id="9" name="Card H2"/>
          <p:cNvSpPr/>
          <p:nvPr/>
        </p:nvSpPr>
        <p:spPr>
          <a:xfrm>
            <a:off x="6199632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6428232" y="148132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84C"/>
                </a:solidFill>
              </a:rPr>
              <a:t>H2: feridos por perfil de veículo</a:t>
            </a:r>
            <a:endParaRPr lang="en-US" sz="15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6336792" y="1965960"/>
          <a:ext cx="51663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428232" y="46177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Só moto: 1,24 feridos por sinistro; só auto: 0,78.</a:t>
            </a:r>
            <a:endParaRPr lang="en-US" sz="1300" dirty="0"/>
          </a:p>
          <a:p>
            <a:pPr>
              <a:spcAft>
                <a:spcPts val="600"/>
              </a:spcAft>
              <a:buSzPct val="100000"/>
            </a:pPr>
            <a:endParaRPr lang="en-US" sz="1300" dirty="0"/>
          </a:p>
        </p:txBody>
      </p:sp>
      <p:sp>
        <p:nvSpPr>
          <p:cNvPr id="13" name="Decisão H2"/>
          <p:cNvSpPr/>
          <p:nvPr/>
        </p:nvSpPr>
        <p:spPr>
          <a:xfrm>
            <a:off x="6428232" y="5760720"/>
            <a:ext cx="4983480" cy="365760"/>
          </a:xfrm>
          <a:prstGeom prst="roundRect">
            <a:avLst>
              <a:gd name="adj" fmla="val 20000"/>
            </a:avLst>
          </a:prstGeom>
          <a:solidFill>
            <a:srgbClr val="E6F4EC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 txBox="1"/>
          <p:nvPr/>
        </p:nvSpPr>
        <p:spPr>
          <a:xfrm>
            <a:off x="6428232" y="57607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E49"/>
                </a:solidFill>
              </a:rPr>
              <a:t>Rejeita H0: motos ligadas a mais feridos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H3: tendência de queda dos sinistros</a:t>
            </a:r>
            <a:endParaRPr lang="en-US" sz="3000" dirty="0"/>
          </a:p>
        </p:txBody>
      </p:sp>
      <p:sp>
        <p:nvSpPr>
          <p:cNvPr id="3" name="Card H3"/>
          <p:cNvSpPr/>
          <p:nvPr/>
        </p:nvSpPr>
        <p:spPr>
          <a:xfrm>
            <a:off x="548640" y="1371600"/>
            <a:ext cx="7680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77240" y="148132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84C"/>
                </a:solidFill>
              </a:rPr>
              <a:t>Sinistros por mês, 2015 a 2024, e linha de tendência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85800" y="1920240"/>
          <a:ext cx="74066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sultado H3"/>
          <p:cNvSpPr/>
          <p:nvPr/>
        </p:nvSpPr>
        <p:spPr>
          <a:xfrm>
            <a:off x="8503920" y="1371600"/>
            <a:ext cx="313639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873252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19659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R² = 0,416: o tempo explica 41,6% da variação.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A cada mês, ocorrem em média cerca de 5 sinistros a menos.</a:t>
            </a:r>
            <a:endParaRPr lang="en-US" sz="1300" dirty="0"/>
          </a:p>
        </p:txBody>
      </p:sp>
      <p:sp>
        <p:nvSpPr>
          <p:cNvPr id="9" name="Leitura H3"/>
          <p:cNvSpPr/>
          <p:nvPr/>
        </p:nvSpPr>
        <p:spPr>
          <a:xfrm>
            <a:off x="8503920" y="3931920"/>
            <a:ext cx="313639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873252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B2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interpretar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732520" y="4526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202C"/>
                </a:solidFill>
              </a:rPr>
              <a:t>Rejeita H0: há tendência de queda. O </a:t>
            </a:r>
            <a:r>
              <a:rPr lang="en-US" sz="1300" dirty="0" err="1">
                <a:solidFill>
                  <a:srgbClr val="1A202C"/>
                </a:solidFill>
              </a:rPr>
              <a:t>arquivo</a:t>
            </a:r>
            <a:r>
              <a:rPr lang="en-US" sz="1300" dirty="0">
                <a:solidFill>
                  <a:srgbClr val="1A202C"/>
                </a:solidFill>
              </a:rPr>
              <a:t> liga as quedas a 2018 (mudança no </a:t>
            </a:r>
            <a:r>
              <a:rPr lang="en-US" sz="1300" dirty="0" err="1">
                <a:solidFill>
                  <a:srgbClr val="1A202C"/>
                </a:solidFill>
              </a:rPr>
              <a:t>registro</a:t>
            </a:r>
            <a:r>
              <a:rPr lang="en-US" sz="1300" dirty="0">
                <a:solidFill>
                  <a:srgbClr val="1A202C"/>
                </a:solidFill>
              </a:rPr>
              <a:t>, </a:t>
            </a:r>
            <a:r>
              <a:rPr lang="pt-BR" sz="1300" dirty="0">
                <a:solidFill>
                  <a:srgbClr val="1A202C"/>
                </a:solidFill>
              </a:rPr>
              <a:t>transição para o padrão de placas do Mercosul</a:t>
            </a:r>
            <a:r>
              <a:rPr lang="en-US" sz="1300" dirty="0">
                <a:solidFill>
                  <a:srgbClr val="1A202C"/>
                </a:solidFill>
              </a:rPr>
              <a:t>) e a 2020 (pandemia).</a:t>
            </a:r>
          </a:p>
        </p:txBody>
      </p:sp>
      <p:sp>
        <p:nvSpPr>
          <p:cNvPr id="12" name="Text 9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H4 e H5: sinalização e bairros</a:t>
            </a:r>
            <a:endParaRPr lang="en-US" sz="3000" dirty="0"/>
          </a:p>
        </p:txBody>
      </p:sp>
      <p:sp>
        <p:nvSpPr>
          <p:cNvPr id="3" name="Card H4"/>
          <p:cNvSpPr/>
          <p:nvPr/>
        </p:nvSpPr>
        <p:spPr>
          <a:xfrm>
            <a:off x="548640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77240" y="148132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84C"/>
                </a:solidFill>
              </a:rPr>
              <a:t>H4: gravidade por controle de tráfego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85800" y="1965960"/>
          <a:ext cx="51663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7240" y="46177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Sem controle e gesto: ≈ 1,8% de fatais; pare e semáforo: ≈ 1,0 a 1,2%.</a:t>
            </a:r>
            <a:endParaRPr lang="en-US" sz="1300" dirty="0"/>
          </a:p>
        </p:txBody>
      </p:sp>
      <p:sp>
        <p:nvSpPr>
          <p:cNvPr id="7" name="Decisão H4"/>
          <p:cNvSpPr/>
          <p:nvPr/>
        </p:nvSpPr>
        <p:spPr>
          <a:xfrm>
            <a:off x="777240" y="5760720"/>
            <a:ext cx="4983480" cy="365760"/>
          </a:xfrm>
          <a:prstGeom prst="roundRect">
            <a:avLst>
              <a:gd name="adj" fmla="val 20000"/>
            </a:avLst>
          </a:prstGeom>
          <a:solidFill>
            <a:srgbClr val="E6F4EC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 txBox="1"/>
          <p:nvPr/>
        </p:nvSpPr>
        <p:spPr>
          <a:xfrm>
            <a:off x="777240" y="57607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E49"/>
                </a:solidFill>
              </a:rPr>
              <a:t>Rejeita H0: a gravidade depende do controle</a:t>
            </a:r>
            <a:endParaRPr lang="en-US" sz="1300" dirty="0"/>
          </a:p>
        </p:txBody>
      </p:sp>
      <p:sp>
        <p:nvSpPr>
          <p:cNvPr id="9" name="Card H5"/>
          <p:cNvSpPr/>
          <p:nvPr/>
        </p:nvSpPr>
        <p:spPr>
          <a:xfrm>
            <a:off x="6199632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6428232" y="148132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84C"/>
                </a:solidFill>
              </a:rPr>
              <a:t>H5: sinistros por bairro e motocicletas</a:t>
            </a:r>
            <a:endParaRPr lang="en-US" sz="15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6336792" y="1965960"/>
          <a:ext cx="51663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428232" y="46177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Nos 8 bairros com mais sinistros, as motos envolvidas acompanham o total de sinistros.</a:t>
            </a:r>
            <a:endParaRPr lang="en-US" sz="1300" dirty="0"/>
          </a:p>
          <a:p>
            <a:pPr>
              <a:spcAft>
                <a:spcPts val="600"/>
              </a:spcAft>
              <a:buSzPct val="100000"/>
            </a:pPr>
            <a:endParaRPr lang="en-US" sz="1300" dirty="0"/>
          </a:p>
        </p:txBody>
      </p:sp>
      <p:sp>
        <p:nvSpPr>
          <p:cNvPr id="13" name="Decisão H5"/>
          <p:cNvSpPr/>
          <p:nvPr/>
        </p:nvSpPr>
        <p:spPr>
          <a:xfrm>
            <a:off x="6428232" y="5760720"/>
            <a:ext cx="4983480" cy="365760"/>
          </a:xfrm>
          <a:prstGeom prst="roundRect">
            <a:avLst>
              <a:gd name="adj" fmla="val 20000"/>
            </a:avLst>
          </a:prstGeom>
          <a:solidFill>
            <a:srgbClr val="E6F4EC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 txBox="1"/>
          <p:nvPr/>
        </p:nvSpPr>
        <p:spPr>
          <a:xfrm>
            <a:off x="6428232" y="57607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E49"/>
                </a:solidFill>
              </a:rPr>
              <a:t>Rejeita H0: há relação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vias com mais sinistros em Fortaleza</a:t>
            </a:r>
            <a:endParaRPr lang="en-US" sz="3000" dirty="0"/>
          </a:p>
        </p:txBody>
      </p:sp>
      <p:sp>
        <p:nvSpPr>
          <p:cNvPr id="3" name="Card gráfico vias"/>
          <p:cNvSpPr/>
          <p:nvPr/>
        </p:nvSpPr>
        <p:spPr>
          <a:xfrm>
            <a:off x="548640" y="1280160"/>
            <a:ext cx="7589520" cy="498348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77240" y="13716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84C"/>
                </a:solidFill>
              </a:rPr>
              <a:t>Sinistros registrados por via (18 vias)</a:t>
            </a:r>
            <a:endParaRPr lang="en-US" sz="1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77240" y="1737360"/>
          <a:ext cx="71323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KPI Rodovia CE-040: 1ª colocada, 20,6% do total"/>
          <p:cNvSpPr/>
          <p:nvPr/>
        </p:nvSpPr>
        <p:spPr>
          <a:xfrm>
            <a:off x="8366760" y="1280160"/>
            <a:ext cx="3273552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8549640" y="1417320"/>
            <a:ext cx="290779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2.035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2109978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Rodovia CE-040: 1ª colocada, 20,6% do total</a:t>
            </a:r>
            <a:endParaRPr lang="en-US" sz="1300" dirty="0"/>
          </a:p>
        </p:txBody>
      </p:sp>
      <p:sp>
        <p:nvSpPr>
          <p:cNvPr id="9" name="KPI concentrados nas 5 primeiras vias"/>
          <p:cNvSpPr/>
          <p:nvPr/>
        </p:nvSpPr>
        <p:spPr>
          <a:xfrm>
            <a:off x="8366760" y="2971800"/>
            <a:ext cx="3273552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8549640" y="3108960"/>
            <a:ext cx="290779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47,8%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549640" y="3801618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concentrados nas 5 primeiras vias</a:t>
            </a:r>
            <a:endParaRPr lang="en-US" sz="1300" dirty="0"/>
          </a:p>
        </p:txBody>
      </p:sp>
      <p:sp>
        <p:nvSpPr>
          <p:cNvPr id="12" name="KPI CE-040 e BR-116 estão entre as 10 primeiras"/>
          <p:cNvSpPr/>
          <p:nvPr/>
        </p:nvSpPr>
        <p:spPr>
          <a:xfrm>
            <a:off x="8366760" y="4663440"/>
            <a:ext cx="327355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8549640" y="4800600"/>
            <a:ext cx="29077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2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rodovias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549640" y="554355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CE-040 e BR-116 estão entre as 10 primeiras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Estatísticas das vias: poucas vias concentram muito</a:t>
            </a:r>
            <a:endParaRPr lang="en-US" sz="3000" dirty="0"/>
          </a:p>
        </p:txBody>
      </p:sp>
      <p:sp>
        <p:nvSpPr>
          <p:cNvPr id="3" name="KPI vias analisadas"/>
          <p:cNvSpPr/>
          <p:nvPr/>
        </p:nvSpPr>
        <p:spPr>
          <a:xfrm>
            <a:off x="548640" y="137160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31520" y="1508760"/>
            <a:ext cx="32004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5112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vias analisadas</a:t>
            </a:r>
            <a:endParaRPr lang="en-US" sz="1300" dirty="0"/>
          </a:p>
        </p:txBody>
      </p:sp>
      <p:sp>
        <p:nvSpPr>
          <p:cNvPr id="6" name="KPI sinistros no total"/>
          <p:cNvSpPr/>
          <p:nvPr/>
        </p:nvSpPr>
        <p:spPr>
          <a:xfrm>
            <a:off x="4311396" y="137160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4494276" y="1508760"/>
            <a:ext cx="32004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9.872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494276" y="215112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sinistros no total</a:t>
            </a:r>
            <a:endParaRPr lang="en-US" sz="1300" dirty="0"/>
          </a:p>
        </p:txBody>
      </p:sp>
      <p:sp>
        <p:nvSpPr>
          <p:cNvPr id="9" name="KPI média de sinistros por via"/>
          <p:cNvSpPr/>
          <p:nvPr/>
        </p:nvSpPr>
        <p:spPr>
          <a:xfrm>
            <a:off x="8074152" y="137160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257032" y="1508760"/>
            <a:ext cx="32004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548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57032" y="215112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média de sinistros por via</a:t>
            </a:r>
            <a:endParaRPr lang="en-US" sz="1300" dirty="0"/>
          </a:p>
        </p:txBody>
      </p:sp>
      <p:sp>
        <p:nvSpPr>
          <p:cNvPr id="12" name="Card leitura"/>
          <p:cNvSpPr/>
          <p:nvPr/>
        </p:nvSpPr>
        <p:spPr>
          <a:xfrm>
            <a:off x="548640" y="3017520"/>
            <a:ext cx="11091672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os números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79476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202C"/>
                </a:solidFill>
              </a:rPr>
              <a:t>Em média, cada via tem 548 sinistros, mas poucas vias muito críticas puxam esse valor para cima.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202C"/>
                </a:solidFill>
              </a:rPr>
              <a:t>A CE-040 sozinha tem 2.035 sinistros (20,6% do total), quase 4 vezes a média.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202C"/>
                </a:solidFill>
              </a:rPr>
              <a:t>As 5 primeiras vias somam 47,8% de todos os sinistros do ranking.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das vias críticas</a:t>
            </a:r>
            <a:endParaRPr lang="en-US" sz="3000" dirty="0"/>
          </a:p>
        </p:txBody>
      </p:sp>
      <p:pic>
        <p:nvPicPr>
          <p:cNvPr id="3" name="Image 0" descr="Mapa de bolhas e ranking das 18 vias com mais acidentes em Fortaleza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71600"/>
            <a:ext cx="7680960" cy="4389120"/>
          </a:xfrm>
          <a:prstGeom prst="rect">
            <a:avLst/>
          </a:prstGeom>
        </p:spPr>
      </p:pic>
      <p:sp>
        <p:nvSpPr>
          <p:cNvPr id="4" name="Card leitura mapa"/>
          <p:cNvSpPr/>
          <p:nvPr/>
        </p:nvSpPr>
        <p:spPr>
          <a:xfrm>
            <a:off x="8503920" y="1371600"/>
            <a:ext cx="313639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 txBox="1"/>
          <p:nvPr/>
        </p:nvSpPr>
        <p:spPr>
          <a:xfrm>
            <a:off x="873252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732520" y="196596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Quanto maior e mais escura a bolha, mais sinistros. O número é a posição no ranking.</a:t>
            </a:r>
            <a:endParaRPr lang="en-US" sz="1400" dirty="0"/>
          </a:p>
        </p:txBody>
      </p:sp>
      <p:sp>
        <p:nvSpPr>
          <p:cNvPr id="7" name="Card aviso mapa"/>
          <p:cNvSpPr/>
          <p:nvPr/>
        </p:nvSpPr>
        <p:spPr>
          <a:xfrm>
            <a:off x="8503920" y="3794760"/>
            <a:ext cx="313639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 txBox="1"/>
          <p:nvPr/>
        </p:nvSpPr>
        <p:spPr>
          <a:xfrm>
            <a:off x="873252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B2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Atenção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438912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As posições são aproximadas e servem só para ilustrar.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Recomendações para o poder público</a:t>
            </a:r>
            <a:endParaRPr lang="en-US" sz="3000" dirty="0"/>
          </a:p>
        </p:txBody>
      </p:sp>
      <p:sp>
        <p:nvSpPr>
          <p:cNvPr id="3" name="Recomendação 1"/>
          <p:cNvSpPr/>
          <p:nvPr/>
        </p:nvSpPr>
        <p:spPr>
          <a:xfrm>
            <a:off x="548640" y="1463040"/>
            <a:ext cx="3493008" cy="4572000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Número rec 1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Agir primeiro nas vias críticas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661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Fiscalização eletrônica e blitze educativas na CE-040 e nas avenidas do topo do ranking.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64545"/>
                </a:solidFill>
              </a:rPr>
              <a:t>Prioridade alta</a:t>
            </a:r>
            <a:endParaRPr lang="en-US" sz="1300" dirty="0"/>
          </a:p>
        </p:txBody>
      </p:sp>
      <p:sp>
        <p:nvSpPr>
          <p:cNvPr id="9" name="Recomendação 2"/>
          <p:cNvSpPr/>
          <p:nvPr/>
        </p:nvSpPr>
        <p:spPr>
          <a:xfrm>
            <a:off x="4347972" y="1463040"/>
            <a:ext cx="3493008" cy="4572000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Número rec 2"/>
          <p:cNvSpPr/>
          <p:nvPr/>
        </p:nvSpPr>
        <p:spPr>
          <a:xfrm>
            <a:off x="4622292" y="1737360"/>
            <a:ext cx="685800" cy="68580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622292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02C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22292" y="26517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Auditar a segurança viária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22292" y="35661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Revisar sinalização, iluminação, tempo dos semáforos e travessias de pedestres nas 5 primeiras vias.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22292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26A00"/>
                </a:solidFill>
              </a:rPr>
              <a:t>Prioridade média</a:t>
            </a:r>
            <a:endParaRPr lang="en-US" sz="1300" dirty="0"/>
          </a:p>
        </p:txBody>
      </p:sp>
      <p:sp>
        <p:nvSpPr>
          <p:cNvPr id="15" name="Recomendação 3"/>
          <p:cNvSpPr/>
          <p:nvPr/>
        </p:nvSpPr>
        <p:spPr>
          <a:xfrm>
            <a:off x="8147304" y="1463040"/>
            <a:ext cx="3493008" cy="4572000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Número rec 3"/>
          <p:cNvSpPr/>
          <p:nvPr/>
        </p:nvSpPr>
        <p:spPr>
          <a:xfrm>
            <a:off x="8421624" y="1737360"/>
            <a:ext cx="685800" cy="68580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8421624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421624" y="26517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Melhorar e usar os dados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421624" y="35661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</a:rPr>
              <a:t>Reforçar a fiscalização à noite e de madrugada, melhorar a sinalização e acompanhar os números todo ano.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421624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9E6B"/>
                </a:solidFill>
              </a:rPr>
              <a:t>Contínuo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visão geral dos sinistros</a:t>
            </a:r>
            <a:endParaRPr lang="en-US" sz="3000" dirty="0"/>
          </a:p>
        </p:txBody>
      </p:sp>
      <p:sp>
        <p:nvSpPr>
          <p:cNvPr id="3" name="KPI sinistros analisados (2015-2024)"/>
          <p:cNvSpPr/>
          <p:nvPr/>
        </p:nvSpPr>
        <p:spPr>
          <a:xfrm>
            <a:off x="548640" y="1188720"/>
            <a:ext cx="267919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130.820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92224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sinistros analisados (2015-2024)</a:t>
            </a:r>
            <a:endParaRPr lang="en-US" sz="1300" dirty="0"/>
          </a:p>
        </p:txBody>
      </p:sp>
      <p:sp>
        <p:nvSpPr>
          <p:cNvPr id="6" name="KPI mortes registradas"/>
          <p:cNvSpPr/>
          <p:nvPr/>
        </p:nvSpPr>
        <p:spPr>
          <a:xfrm>
            <a:off x="3383280" y="1188720"/>
            <a:ext cx="267919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3566160" y="132588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1.986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792224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mortes registradas</a:t>
            </a:r>
            <a:endParaRPr lang="en-US" sz="1300" dirty="0"/>
          </a:p>
        </p:txBody>
      </p:sp>
      <p:sp>
        <p:nvSpPr>
          <p:cNvPr id="9" name="KPI sinistros fatais"/>
          <p:cNvSpPr/>
          <p:nvPr/>
        </p:nvSpPr>
        <p:spPr>
          <a:xfrm>
            <a:off x="6217920" y="1188720"/>
            <a:ext cx="267919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6400800" y="132588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2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1,5%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792224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sinistros fatais</a:t>
            </a:r>
            <a:endParaRPr lang="en-US" sz="1300" dirty="0"/>
          </a:p>
        </p:txBody>
      </p:sp>
      <p:sp>
        <p:nvSpPr>
          <p:cNvPr id="12" name="KPI taxa de mortes na madrugada (maior)"/>
          <p:cNvSpPr/>
          <p:nvPr/>
        </p:nvSpPr>
        <p:spPr>
          <a:xfrm>
            <a:off x="9052560" y="1188720"/>
            <a:ext cx="267919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9235440" y="132588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1792224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taxa de mortes na madrugada (maior)</a:t>
            </a:r>
            <a:endParaRPr lang="en-US" sz="1300" dirty="0"/>
          </a:p>
        </p:txBody>
      </p:sp>
      <p:sp>
        <p:nvSpPr>
          <p:cNvPr id="15" name="Dash Gravidade"/>
          <p:cNvSpPr/>
          <p:nvPr/>
        </p:nvSpPr>
        <p:spPr>
          <a:xfrm>
            <a:off x="548640" y="246888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68580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84C"/>
                </a:solidFill>
              </a:rPr>
              <a:t>Gravidade</a:t>
            </a:r>
            <a:endParaRPr lang="en-US" sz="13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94360" y="2880360"/>
          <a:ext cx="256032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Dash Sinistros por ano"/>
          <p:cNvSpPr/>
          <p:nvPr/>
        </p:nvSpPr>
        <p:spPr>
          <a:xfrm>
            <a:off x="3362249" y="246888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 txBox="1"/>
          <p:nvPr/>
        </p:nvSpPr>
        <p:spPr>
          <a:xfrm>
            <a:off x="3499409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84C"/>
                </a:solidFill>
              </a:rPr>
              <a:t>Sinistros por ano</a:t>
            </a:r>
            <a:endParaRPr lang="en-US" sz="1300" dirty="0"/>
          </a:p>
        </p:txBody>
      </p:sp>
      <p:graphicFrame>
        <p:nvGraphicFramePr>
          <p:cNvPr id="20" name="Chart 1"/>
          <p:cNvGraphicFramePr/>
          <p:nvPr/>
        </p:nvGraphicFramePr>
        <p:xfrm>
          <a:off x="3407969" y="2880360"/>
          <a:ext cx="256032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Dash Mortalidade por veículo (%)"/>
          <p:cNvSpPr/>
          <p:nvPr/>
        </p:nvSpPr>
        <p:spPr>
          <a:xfrm>
            <a:off x="6175858" y="246888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 txBox="1"/>
          <p:nvPr/>
        </p:nvSpPr>
        <p:spPr>
          <a:xfrm>
            <a:off x="6313018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84C"/>
                </a:solidFill>
              </a:rPr>
              <a:t>Mortalidade por veículo (%)</a:t>
            </a:r>
            <a:endParaRPr lang="en-US" sz="1300" dirty="0"/>
          </a:p>
        </p:txBody>
      </p:sp>
      <p:graphicFrame>
        <p:nvGraphicFramePr>
          <p:cNvPr id="23" name="Chart 2"/>
          <p:cNvGraphicFramePr/>
          <p:nvPr/>
        </p:nvGraphicFramePr>
        <p:xfrm>
          <a:off x="6221578" y="2880360"/>
          <a:ext cx="256032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Dash Vias críticas (top 8)"/>
          <p:cNvSpPr/>
          <p:nvPr/>
        </p:nvSpPr>
        <p:spPr>
          <a:xfrm>
            <a:off x="8989466" y="246888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0"/>
          <p:cNvSpPr txBox="1"/>
          <p:nvPr/>
        </p:nvSpPr>
        <p:spPr>
          <a:xfrm>
            <a:off x="9126626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84C"/>
                </a:solidFill>
              </a:rPr>
              <a:t>Vias críticas (top 8)</a:t>
            </a:r>
            <a:endParaRPr lang="en-US" sz="1300" dirty="0"/>
          </a:p>
        </p:txBody>
      </p:sp>
      <p:graphicFrame>
        <p:nvGraphicFramePr>
          <p:cNvPr id="26" name="Chart 3"/>
          <p:cNvGraphicFramePr/>
          <p:nvPr/>
        </p:nvGraphicFramePr>
        <p:xfrm>
          <a:off x="9035186" y="2880360"/>
          <a:ext cx="256032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7" name="Text 2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</a:t>
            </a:r>
            <a:endParaRPr lang="en-US" sz="3000" dirty="0"/>
          </a:p>
        </p:txBody>
      </p:sp>
      <p:sp>
        <p:nvSpPr>
          <p:cNvPr id="3" name="Conclusão 1"/>
          <p:cNvSpPr/>
          <p:nvPr/>
        </p:nvSpPr>
        <p:spPr>
          <a:xfrm>
            <a:off x="548640" y="146304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1B3560"/>
          </a:solidFill>
          <a:ln w="12700">
            <a:solidFill>
              <a:srgbClr val="1B3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em 68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14630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sinistros tem morte: foram 1.986 mortes em 10 anos em Fortaleza.</a:t>
            </a:r>
            <a:endParaRPr lang="en-US" sz="1800" dirty="0"/>
          </a:p>
        </p:txBody>
      </p:sp>
      <p:sp>
        <p:nvSpPr>
          <p:cNvPr id="6" name="Conclusão 2"/>
          <p:cNvSpPr/>
          <p:nvPr/>
        </p:nvSpPr>
        <p:spPr>
          <a:xfrm>
            <a:off x="548640" y="306324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1B3560"/>
          </a:solidFill>
          <a:ln w="12700">
            <a:solidFill>
              <a:srgbClr val="1B3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de 5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30632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hipóteses confirmadas: horário, motos, queda no tempo, controle de tráfego e bairros (efeitos de fraco a forte).</a:t>
            </a:r>
            <a:endParaRPr lang="en-US" sz="1800" dirty="0"/>
          </a:p>
        </p:txBody>
      </p:sp>
      <p:sp>
        <p:nvSpPr>
          <p:cNvPr id="9" name="Conclusão 3"/>
          <p:cNvSpPr/>
          <p:nvPr/>
        </p:nvSpPr>
        <p:spPr>
          <a:xfrm>
            <a:off x="548640" y="466344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1B3560"/>
          </a:solidFill>
          <a:ln w="12700">
            <a:solidFill>
              <a:srgbClr val="1B3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22960" y="46634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47,8%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46634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dos sinistros das 18 vias críticas estão em apenas 5 vias, com destaque para a CE-040.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6CC"/>
                </a:solidFill>
              </a:rPr>
              <a:t>Fonte: Sinistros de Trânsito na Cidade de Fortaleza (2015-2024).csv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6C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taleza Seguranca Viaria">
  <a:themeElements>
    <a:clrScheme name="Fortaleza Seguranca Viaria">
      <a:dk1>
        <a:srgbClr val="1A202C"/>
      </a:dk1>
      <a:lt1>
        <a:srgbClr val="FFFFFF"/>
      </a:lt1>
      <a:dk2>
        <a:srgbClr val="12284C"/>
      </a:dk2>
      <a:lt2>
        <a:srgbClr val="F5F7FA"/>
      </a:lt2>
      <a:accent1>
        <a:srgbClr val="12284C"/>
      </a:accent1>
      <a:accent2>
        <a:srgbClr val="4A5568"/>
      </a:accent2>
      <a:accent3>
        <a:srgbClr val="2E9E6B"/>
      </a:accent3>
      <a:accent4>
        <a:srgbClr val="F2A33A"/>
      </a:accent4>
      <a:accent5>
        <a:srgbClr val="D64545"/>
      </a:accent5>
      <a:accent6>
        <a:srgbClr val="8A97AB"/>
      </a:accent6>
      <a:hlink>
        <a:srgbClr val="12284C"/>
      </a:hlink>
      <a:folHlink>
        <a:srgbClr val="4A5568"/>
      </a:folHlink>
    </a:clrScheme>
    <a:fontScheme name="Fortaleza Seguranca Viari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2515</Words>
  <Application>Microsoft Office PowerPoint</Application>
  <PresentationFormat>Widescreen</PresentationFormat>
  <Paragraphs>532</Paragraphs>
  <Slides>24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Courier New</vt:lpstr>
      <vt:lpstr>Fortaleza Seguranca Viaria</vt:lpstr>
      <vt:lpstr>Apresentação do PowerPoint</vt:lpstr>
      <vt:lpstr>Resumo dos dados</vt:lpstr>
      <vt:lpstr>Pipeline do projeto</vt:lpstr>
      <vt:lpstr>Passo 1: Análise descritiva</vt:lpstr>
      <vt:lpstr>Passo 1 (cont.): Estatísticas descritivas</vt:lpstr>
      <vt:lpstr>Passo 2: Horários dos acidentes</vt:lpstr>
      <vt:lpstr>Passo 3: Faixa de horário e fim de semana</vt:lpstr>
      <vt:lpstr>Passo 4: Bairros com mais sinistros e mortes</vt:lpstr>
      <vt:lpstr>Passo 5: Veículos envolvidos</vt:lpstr>
      <vt:lpstr>Passo 6: Veículos nos mesmos sinistros</vt:lpstr>
      <vt:lpstr>Passo 7: O que mais influencia as mortes</vt:lpstr>
      <vt:lpstr>Passo 8: Correlação entre variáveis</vt:lpstr>
      <vt:lpstr>Passo 9: Qui-quadrado: variáveis de categoria</vt:lpstr>
      <vt:lpstr>Passo 10: Variáveis numéricas e categorias</vt:lpstr>
      <vt:lpstr>Passo 11: 5 testes de hipóteses</vt:lpstr>
      <vt:lpstr>H1 e H2: horário e motocicletas</vt:lpstr>
      <vt:lpstr>H3: tendência de queda dos sinistros</vt:lpstr>
      <vt:lpstr>H4 e H5: sinalização e bairros</vt:lpstr>
      <vt:lpstr>As vias com mais sinistros em Fortaleza</vt:lpstr>
      <vt:lpstr>Estatísticas das vias: poucas vias concentram muito</vt:lpstr>
      <vt:lpstr>Mapa das vias críticas</vt:lpstr>
      <vt:lpstr>Recomendações para o poder público</vt:lpstr>
      <vt:lpstr>Dashboard: visão geral dos sinistros</vt:lpstr>
      <vt:lpstr>Conclusões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Sinistros de Trânsito em Fortaleza (2015-2024)</dc:title>
  <dc:subject>PptxGenJS Presentation</dc:subject>
  <dc:creator>IFCE</dc:creator>
  <cp:lastModifiedBy>anady carvalho de mesquita</cp:lastModifiedBy>
  <cp:revision>2</cp:revision>
  <dcterms:created xsi:type="dcterms:W3CDTF">2026-10-15T23:29:16Z</dcterms:created>
  <dcterms:modified xsi:type="dcterms:W3CDTF">2026-10-15T23:47:20Z</dcterms:modified>
</cp:coreProperties>
</file>